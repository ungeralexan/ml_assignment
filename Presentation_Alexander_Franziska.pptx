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4"/>
  </p:sldMasterIdLst>
  <p:notesMasterIdLst>
    <p:notesMasterId r:id="rId15"/>
  </p:notesMasterIdLst>
  <p:sldIdLst>
    <p:sldId id="256" r:id="rId5"/>
    <p:sldId id="266" r:id="rId6"/>
    <p:sldId id="267" r:id="rId7"/>
    <p:sldId id="270" r:id="rId8"/>
    <p:sldId id="265" r:id="rId9"/>
    <p:sldId id="275" r:id="rId10"/>
    <p:sldId id="271" r:id="rId11"/>
    <p:sldId id="272" r:id="rId12"/>
    <p:sldId id="273" r:id="rId13"/>
    <p:sldId id="27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26EC5553-38CD-4699-A20B-6FFB0FC44849}">
          <p14:sldIdLst>
            <p14:sldId id="256"/>
            <p14:sldId id="266"/>
            <p14:sldId id="267"/>
            <p14:sldId id="270"/>
            <p14:sldId id="265"/>
            <p14:sldId id="275"/>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0E0E"/>
    <a:srgbClr val="008080"/>
    <a:srgbClr val="93A299"/>
    <a:srgbClr val="3F29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4C9F9E-8382-48E5-BB92-362CDEE6D2E2}" v="314" dt="2026-01-25T23:23:27.85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709" autoAdjust="0"/>
  </p:normalViewPr>
  <p:slideViewPr>
    <p:cSldViewPr snapToGrid="0">
      <p:cViewPr varScale="1">
        <p:scale>
          <a:sx n="95" d="100"/>
          <a:sy n="95" d="100"/>
        </p:scale>
        <p:origin x="252" y="96"/>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white">
                    <a:lumMod val="65000"/>
                    <a:lumOff val="35000"/>
                  </a:prstClr>
                </a:solidFill>
                <a:latin typeface="+mn-lt"/>
                <a:ea typeface="+mn-ea"/>
                <a:cs typeface="+mn-cs"/>
              </a:defRPr>
            </a:pPr>
            <a:r>
              <a:rPr lang="en-US" sz="2000" b="0" i="0" u="none" strike="noStrike" kern="1200" spc="0" baseline="0" dirty="0">
                <a:solidFill>
                  <a:prstClr val="white">
                    <a:lumMod val="65000"/>
                    <a:lumOff val="35000"/>
                  </a:prstClr>
                </a:solidFill>
              </a:rPr>
              <a:t>Our target_90 classes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white">
                  <a:lumMod val="65000"/>
                  <a:lumOff val="35000"/>
                </a:prstClr>
              </a:solidFill>
              <a:latin typeface="+mn-lt"/>
              <a:ea typeface="+mn-ea"/>
              <a:cs typeface="+mn-cs"/>
            </a:defRPr>
          </a:pPr>
          <a:endParaRPr lang="de-DE"/>
        </a:p>
      </c:txPr>
    </c:title>
    <c:autoTitleDeleted val="0"/>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dPt>
            <c:idx val="0"/>
            <c:invertIfNegative val="0"/>
            <c:bubble3D val="0"/>
            <c:spPr>
              <a:solidFill>
                <a:srgbClr val="008080"/>
              </a:solidFill>
              <a:ln>
                <a:noFill/>
              </a:ln>
              <a:effectLst/>
            </c:spPr>
            <c:extLst>
              <c:ext xmlns:c16="http://schemas.microsoft.com/office/drawing/2014/chart" uri="{C3380CC4-5D6E-409C-BE32-E72D297353CC}">
                <c16:uniqueId val="{00000001-EB89-41C2-A127-D9E0AFFFE509}"/>
              </c:ext>
            </c:extLst>
          </c:dPt>
          <c:dPt>
            <c:idx val="1"/>
            <c:invertIfNegative val="0"/>
            <c:bubble3D val="0"/>
            <c:spPr>
              <a:solidFill>
                <a:srgbClr val="008080"/>
              </a:solidFill>
              <a:ln>
                <a:noFill/>
              </a:ln>
              <a:effectLst/>
            </c:spPr>
            <c:extLst>
              <c:ext xmlns:c16="http://schemas.microsoft.com/office/drawing/2014/chart" uri="{C3380CC4-5D6E-409C-BE32-E72D297353CC}">
                <c16:uniqueId val="{00000003-EB89-41C2-A127-D9E0AFFFE509}"/>
              </c:ext>
            </c:extLst>
          </c:dPt>
          <c:cat>
            <c:strRef>
              <c:f>Tabelle1!$A$2:$A$3</c:f>
              <c:strCache>
                <c:ptCount val="2"/>
                <c:pt idx="0">
                  <c:v>Churner</c:v>
                </c:pt>
                <c:pt idx="1">
                  <c:v>Reordner</c:v>
                </c:pt>
              </c:strCache>
            </c:strRef>
          </c:cat>
          <c:val>
            <c:numRef>
              <c:f>Tabelle1!$B$2:$B$3</c:f>
              <c:numCache>
                <c:formatCode>General</c:formatCode>
                <c:ptCount val="2"/>
                <c:pt idx="0">
                  <c:v>0.81340199800000001</c:v>
                </c:pt>
                <c:pt idx="1">
                  <c:v>0.18659800200000001</c:v>
                </c:pt>
              </c:numCache>
            </c:numRef>
          </c:val>
          <c:extLst>
            <c:ext xmlns:c16="http://schemas.microsoft.com/office/drawing/2014/chart" uri="{C3380CC4-5D6E-409C-BE32-E72D297353CC}">
              <c16:uniqueId val="{00000004-EB89-41C2-A127-D9E0AFFFE509}"/>
            </c:ext>
          </c:extLst>
        </c:ser>
        <c:dLbls>
          <c:showLegendKey val="0"/>
          <c:showVal val="0"/>
          <c:showCatName val="0"/>
          <c:showSerName val="0"/>
          <c:showPercent val="0"/>
          <c:showBubbleSize val="0"/>
        </c:dLbls>
        <c:gapWidth val="219"/>
        <c:overlap val="-27"/>
        <c:axId val="308793184"/>
        <c:axId val="308791264"/>
      </c:barChart>
      <c:catAx>
        <c:axId val="308793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308791264"/>
        <c:crosses val="autoZero"/>
        <c:auto val="1"/>
        <c:lblAlgn val="ctr"/>
        <c:lblOffset val="100"/>
        <c:noMultiLvlLbl val="0"/>
      </c:catAx>
      <c:valAx>
        <c:axId val="308791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308793184"/>
        <c:crosses val="autoZero"/>
        <c:crossBetween val="between"/>
        <c:majorUnit val="0.2"/>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white">
                    <a:lumMod val="65000"/>
                    <a:lumOff val="35000"/>
                  </a:prstClr>
                </a:solidFill>
                <a:latin typeface="+mn-lt"/>
                <a:ea typeface="+mn-ea"/>
                <a:cs typeface="+mn-cs"/>
              </a:defRPr>
            </a:pPr>
            <a:r>
              <a:rPr lang="en-US" sz="2000" b="0" i="0" u="none" strike="noStrike" kern="1200" spc="0" baseline="0" dirty="0">
                <a:solidFill>
                  <a:prstClr val="white">
                    <a:lumMod val="65000"/>
                    <a:lumOff val="35000"/>
                  </a:prstClr>
                </a:solidFill>
              </a:rPr>
              <a:t>Our target_90 classes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white">
                  <a:lumMod val="65000"/>
                  <a:lumOff val="35000"/>
                </a:prstClr>
              </a:solidFill>
              <a:latin typeface="+mn-lt"/>
              <a:ea typeface="+mn-ea"/>
              <a:cs typeface="+mn-cs"/>
            </a:defRPr>
          </a:pPr>
          <a:endParaRPr lang="de-DE"/>
        </a:p>
      </c:txPr>
    </c:title>
    <c:autoTitleDeleted val="0"/>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dPt>
            <c:idx val="0"/>
            <c:invertIfNegative val="0"/>
            <c:bubble3D val="0"/>
            <c:spPr>
              <a:solidFill>
                <a:srgbClr val="008080"/>
              </a:solidFill>
              <a:ln>
                <a:noFill/>
              </a:ln>
              <a:effectLst/>
            </c:spPr>
            <c:extLst>
              <c:ext xmlns:c16="http://schemas.microsoft.com/office/drawing/2014/chart" uri="{C3380CC4-5D6E-409C-BE32-E72D297353CC}">
                <c16:uniqueId val="{00000001-F0FE-411C-B55E-90D12A5D5498}"/>
              </c:ext>
            </c:extLst>
          </c:dPt>
          <c:dPt>
            <c:idx val="1"/>
            <c:invertIfNegative val="0"/>
            <c:bubble3D val="0"/>
            <c:spPr>
              <a:solidFill>
                <a:srgbClr val="008080"/>
              </a:solidFill>
              <a:ln>
                <a:noFill/>
              </a:ln>
              <a:effectLst/>
            </c:spPr>
            <c:extLst>
              <c:ext xmlns:c16="http://schemas.microsoft.com/office/drawing/2014/chart" uri="{C3380CC4-5D6E-409C-BE32-E72D297353CC}">
                <c16:uniqueId val="{00000003-F0FE-411C-B55E-90D12A5D5498}"/>
              </c:ext>
            </c:extLst>
          </c:dPt>
          <c:cat>
            <c:strRef>
              <c:f>Tabelle1!$A$2:$A$3</c:f>
              <c:strCache>
                <c:ptCount val="2"/>
                <c:pt idx="0">
                  <c:v>Churner</c:v>
                </c:pt>
                <c:pt idx="1">
                  <c:v>Reordner</c:v>
                </c:pt>
              </c:strCache>
            </c:strRef>
          </c:cat>
          <c:val>
            <c:numRef>
              <c:f>Tabelle1!$B$2:$B$3</c:f>
              <c:numCache>
                <c:formatCode>General</c:formatCode>
                <c:ptCount val="2"/>
                <c:pt idx="0">
                  <c:v>0.81340199800000001</c:v>
                </c:pt>
                <c:pt idx="1">
                  <c:v>0.18659800200000001</c:v>
                </c:pt>
              </c:numCache>
            </c:numRef>
          </c:val>
          <c:extLst>
            <c:ext xmlns:c16="http://schemas.microsoft.com/office/drawing/2014/chart" uri="{C3380CC4-5D6E-409C-BE32-E72D297353CC}">
              <c16:uniqueId val="{00000004-F0FE-411C-B55E-90D12A5D5498}"/>
            </c:ext>
          </c:extLst>
        </c:ser>
        <c:dLbls>
          <c:showLegendKey val="0"/>
          <c:showVal val="0"/>
          <c:showCatName val="0"/>
          <c:showSerName val="0"/>
          <c:showPercent val="0"/>
          <c:showBubbleSize val="0"/>
        </c:dLbls>
        <c:gapWidth val="219"/>
        <c:overlap val="-27"/>
        <c:axId val="308793184"/>
        <c:axId val="308791264"/>
      </c:barChart>
      <c:catAx>
        <c:axId val="308793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308791264"/>
        <c:crosses val="autoZero"/>
        <c:auto val="1"/>
        <c:lblAlgn val="ctr"/>
        <c:lblOffset val="100"/>
        <c:noMultiLvlLbl val="0"/>
      </c:catAx>
      <c:valAx>
        <c:axId val="308791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308793184"/>
        <c:crosses val="autoZero"/>
        <c:crossBetween val="between"/>
        <c:majorUnit val="0.2"/>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de-DE" sz="1862" b="0" i="0" u="none" strike="noStrike" baseline="0" dirty="0" err="1"/>
              <a:t>Expected</a:t>
            </a:r>
            <a:r>
              <a:rPr lang="de-DE" sz="1862" b="0" i="0" u="none" strike="noStrike" baseline="0" dirty="0"/>
              <a:t> </a:t>
            </a:r>
            <a:r>
              <a:rPr lang="de-DE" sz="1862" b="0" i="0" u="none" strike="noStrike" baseline="0" dirty="0" err="1"/>
              <a:t>revenue</a:t>
            </a:r>
            <a:r>
              <a:rPr lang="de-DE" sz="1862" b="0" i="0" u="none" strike="noStrike" baseline="0" dirty="0"/>
              <a:t> </a:t>
            </a:r>
            <a:r>
              <a:rPr lang="de-DE" sz="1862" b="0" i="0" u="none" strike="noStrike" baseline="0" dirty="0" err="1"/>
              <a:t>by</a:t>
            </a:r>
            <a:r>
              <a:rPr lang="de-DE" sz="1862" b="0" i="0" u="none" strike="noStrike" baseline="0" dirty="0"/>
              <a:t> </a:t>
            </a:r>
            <a:r>
              <a:rPr lang="de-DE" sz="1862" b="0" i="0" u="none" strike="noStrike" baseline="0" dirty="0" err="1"/>
              <a:t>strategy</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Tabelle1!$B$1</c:f>
              <c:strCache>
                <c:ptCount val="1"/>
                <c:pt idx="0">
                  <c:v>Datenreihe 1</c:v>
                </c:pt>
              </c:strCache>
            </c:strRef>
          </c:tx>
          <c:spPr>
            <a:solidFill>
              <a:srgbClr val="008080"/>
            </a:solidFill>
            <a:ln>
              <a:noFill/>
            </a:ln>
            <a:effectLst/>
          </c:spPr>
          <c:invertIfNegative val="0"/>
          <c:cat>
            <c:strRef>
              <c:f>Tabelle1!$A$2:$A$4</c:f>
              <c:strCache>
                <c:ptCount val="3"/>
                <c:pt idx="0">
                  <c:v>Always send</c:v>
                </c:pt>
                <c:pt idx="1">
                  <c:v>Never send</c:v>
                </c:pt>
                <c:pt idx="2">
                  <c:v>Random 50%</c:v>
                </c:pt>
              </c:strCache>
            </c:strRef>
          </c:cat>
          <c:val>
            <c:numRef>
              <c:f>Tabelle1!$B$2:$B$4</c:f>
              <c:numCache>
                <c:formatCode>General</c:formatCode>
                <c:ptCount val="3"/>
                <c:pt idx="0">
                  <c:v>677.5</c:v>
                </c:pt>
                <c:pt idx="1">
                  <c:v>0</c:v>
                </c:pt>
                <c:pt idx="2">
                  <c:v>342</c:v>
                </c:pt>
              </c:numCache>
            </c:numRef>
          </c:val>
          <c:extLst>
            <c:ext xmlns:c16="http://schemas.microsoft.com/office/drawing/2014/chart" uri="{C3380CC4-5D6E-409C-BE32-E72D297353CC}">
              <c16:uniqueId val="{00000000-0F4F-40CA-8CD1-70CAC6B1A302}"/>
            </c:ext>
          </c:extLst>
        </c:ser>
        <c:dLbls>
          <c:showLegendKey val="0"/>
          <c:showVal val="0"/>
          <c:showCatName val="0"/>
          <c:showSerName val="0"/>
          <c:showPercent val="0"/>
          <c:showBubbleSize val="0"/>
        </c:dLbls>
        <c:gapWidth val="219"/>
        <c:overlap val="-27"/>
        <c:axId val="1255576399"/>
        <c:axId val="1255576879"/>
      </c:barChart>
      <c:catAx>
        <c:axId val="12555763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255576879"/>
        <c:crosses val="autoZero"/>
        <c:auto val="1"/>
        <c:lblAlgn val="ctr"/>
        <c:lblOffset val="100"/>
        <c:noMultiLvlLbl val="0"/>
      </c:catAx>
      <c:valAx>
        <c:axId val="12555768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2555763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FD792-B2FC-40AA-BADD-A00A14F37BC6}" type="datetimeFigureOut">
              <a:rPr lang="de-DE" smtClean="0"/>
              <a:t>25.01.2026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0AFA8-B93F-422A-BA81-9677115DA990}" type="slidenum">
              <a:rPr lang="de-DE" smtClean="0"/>
              <a:t>‹Nr.›</a:t>
            </a:fld>
            <a:endParaRPr lang="de-DE"/>
          </a:p>
        </p:txBody>
      </p:sp>
    </p:spTree>
    <p:extLst>
      <p:ext uri="{BB962C8B-B14F-4D97-AF65-F5344CB8AC3E}">
        <p14:creationId xmlns:p14="http://schemas.microsoft.com/office/powerpoint/2010/main" val="856014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First, we need to understand our customers. The target variable indicates whether a customer places another order within 90 days. As we can see, the majority of customers do not reorder, while only a small fraction return. This imbalance immediately suggests that treating all customers equally would be inefficient and motivates a more targeted approach</a:t>
            </a:r>
            <a:endParaRPr lang="de-DE" dirty="0"/>
          </a:p>
        </p:txBody>
      </p:sp>
      <p:sp>
        <p:nvSpPr>
          <p:cNvPr id="4" name="Foliennummernplatzhalter 3"/>
          <p:cNvSpPr>
            <a:spLocks noGrp="1"/>
          </p:cNvSpPr>
          <p:nvPr>
            <p:ph type="sldNum" sz="quarter" idx="5"/>
          </p:nvPr>
        </p:nvSpPr>
        <p:spPr/>
        <p:txBody>
          <a:bodyPr/>
          <a:lstStyle/>
          <a:p>
            <a:fld id="{3CD0AFA8-B93F-422A-BA81-9677115DA990}" type="slidenum">
              <a:rPr lang="de-DE" smtClean="0"/>
              <a:t>2</a:t>
            </a:fld>
            <a:endParaRPr lang="de-DE"/>
          </a:p>
        </p:txBody>
      </p:sp>
    </p:spTree>
    <p:extLst>
      <p:ext uri="{BB962C8B-B14F-4D97-AF65-F5344CB8AC3E}">
        <p14:creationId xmlns:p14="http://schemas.microsoft.com/office/powerpoint/2010/main" val="754338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b="1" dirty="0"/>
              <a:t>We have two outcomes: Churner vs Reorder, strong class imbalance, asymmetric costs, naïve strategy fails (sent to everyone, send to no one)</a:t>
            </a:r>
          </a:p>
          <a:p>
            <a:r>
              <a:rPr lang="en-US" b="1" dirty="0"/>
              <a:t>Content:</a:t>
            </a:r>
          </a:p>
          <a:p>
            <a:r>
              <a:rPr lang="en-US" dirty="0"/>
              <a:t>Sending vouchers to everyone is expensive</a:t>
            </a:r>
          </a:p>
          <a:p>
            <a:r>
              <a:rPr lang="en-US" dirty="0"/>
              <a:t>Not sending vouchers loses potential customers</a:t>
            </a:r>
          </a:p>
          <a:p>
            <a:r>
              <a:rPr lang="en-US" dirty="0"/>
              <a:t>Goal: </a:t>
            </a:r>
            <a:r>
              <a:rPr lang="en-US" b="1" dirty="0"/>
              <a:t>maximize expected revenue</a:t>
            </a:r>
            <a:r>
              <a:rPr lang="en-US" dirty="0"/>
              <a:t>, not accuracy</a:t>
            </a:r>
          </a:p>
          <a:p>
            <a:r>
              <a:rPr lang="en-US" b="1" dirty="0"/>
              <a:t>Key sentence:</a:t>
            </a:r>
          </a:p>
          <a:p>
            <a:r>
              <a:rPr lang="en-US" dirty="0"/>
              <a:t>“This is a </a:t>
            </a:r>
            <a:r>
              <a:rPr lang="en-US" b="1" dirty="0"/>
              <a:t>cost-sensitive classification problem</a:t>
            </a:r>
            <a:r>
              <a:rPr lang="en-US" dirty="0"/>
              <a:t>, where wrong decisions have asymmetric financial consequences.”</a:t>
            </a:r>
          </a:p>
          <a:p>
            <a:endParaRPr lang="de-DE" dirty="0"/>
          </a:p>
          <a:p>
            <a:r>
              <a:rPr lang="de-DE" dirty="0">
                <a:sym typeface="Wingdings" panose="05000000000000000000" pitchFamily="2" charset="2"/>
              </a:rPr>
              <a:t></a:t>
            </a:r>
            <a:r>
              <a:rPr lang="en-US" dirty="0"/>
              <a:t>“So the real question is not </a:t>
            </a:r>
            <a:r>
              <a:rPr lang="en-US" i="1" dirty="0"/>
              <a:t>whether</a:t>
            </a:r>
            <a:r>
              <a:rPr lang="en-US" dirty="0"/>
              <a:t> a customer will reorder, but </a:t>
            </a:r>
            <a:r>
              <a:rPr lang="en-US" i="1" dirty="0"/>
              <a:t>how likely</a:t>
            </a:r>
            <a:r>
              <a:rPr lang="en-US" dirty="0"/>
              <a:t> they are to reorder.”</a:t>
            </a:r>
            <a:endParaRPr lang="de-DE" dirty="0"/>
          </a:p>
          <a:p>
            <a:endParaRPr lang="de-DE" dirty="0"/>
          </a:p>
        </p:txBody>
      </p:sp>
      <p:sp>
        <p:nvSpPr>
          <p:cNvPr id="4" name="Foliennummernplatzhalter 3"/>
          <p:cNvSpPr>
            <a:spLocks noGrp="1"/>
          </p:cNvSpPr>
          <p:nvPr>
            <p:ph type="sldNum" sz="quarter" idx="5"/>
          </p:nvPr>
        </p:nvSpPr>
        <p:spPr/>
        <p:txBody>
          <a:bodyPr/>
          <a:lstStyle/>
          <a:p>
            <a:fld id="{3CD0AFA8-B93F-422A-BA81-9677115DA990}" type="slidenum">
              <a:rPr lang="de-DE" smtClean="0"/>
              <a:t>3</a:t>
            </a:fld>
            <a:endParaRPr lang="de-DE"/>
          </a:p>
        </p:txBody>
      </p:sp>
    </p:spTree>
    <p:extLst>
      <p:ext uri="{BB962C8B-B14F-4D97-AF65-F5344CB8AC3E}">
        <p14:creationId xmlns:p14="http://schemas.microsoft.com/office/powerpoint/2010/main" val="3298880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B17E-1134-C462-91EA-27AC54CFD30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D8EAC19-A810-FE79-57E5-E7A6AC60998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014EDA-53B4-5334-7298-0661E4E99C31}"/>
              </a:ext>
            </a:extLst>
          </p:cNvPr>
          <p:cNvSpPr>
            <a:spLocks noGrp="1"/>
          </p:cNvSpPr>
          <p:nvPr>
            <p:ph type="body" idx="1"/>
          </p:nvPr>
        </p:nvSpPr>
        <p:spPr/>
        <p:txBody>
          <a:bodyPr/>
          <a:lstStyle/>
          <a:p>
            <a:r>
              <a:rPr lang="en-US" sz="1800" dirty="0"/>
              <a:t>Although this is a classification task, only customers who receive a voucher affect revenue. Because the costs of wrong decisions are asymmetric, our goal is not to maximize accuracy but to maximize expected revenue. The model therefore predicts reorder probabilities, which we translate into voucher decisions using a custom revenue function. We send vouchers only when the expected gain outweighs the expected loss, and we optimize the probability threshold accordingly.</a:t>
            </a:r>
          </a:p>
          <a:p>
            <a:r>
              <a:rPr lang="en-US" sz="1800" dirty="0"/>
              <a:t>Given this probability and the costs, is it profitable to send a voucher?</a:t>
            </a:r>
          </a:p>
        </p:txBody>
      </p:sp>
      <p:sp>
        <p:nvSpPr>
          <p:cNvPr id="4" name="Foliennummernplatzhalter 3">
            <a:extLst>
              <a:ext uri="{FF2B5EF4-FFF2-40B4-BE49-F238E27FC236}">
                <a16:creationId xmlns:a16="http://schemas.microsoft.com/office/drawing/2014/main" id="{63BA5295-08A9-FD5E-F4E7-AA78FE5C341C}"/>
              </a:ext>
            </a:extLst>
          </p:cNvPr>
          <p:cNvSpPr>
            <a:spLocks noGrp="1"/>
          </p:cNvSpPr>
          <p:nvPr>
            <p:ph type="sldNum" sz="quarter" idx="5"/>
          </p:nvPr>
        </p:nvSpPr>
        <p:spPr/>
        <p:txBody>
          <a:bodyPr/>
          <a:lstStyle/>
          <a:p>
            <a:fld id="{3CD0AFA8-B93F-422A-BA81-9677115DA990}" type="slidenum">
              <a:rPr lang="de-DE" smtClean="0"/>
              <a:t>4</a:t>
            </a:fld>
            <a:endParaRPr lang="de-DE"/>
          </a:p>
        </p:txBody>
      </p:sp>
    </p:spTree>
    <p:extLst>
      <p:ext uri="{BB962C8B-B14F-4D97-AF65-F5344CB8AC3E}">
        <p14:creationId xmlns:p14="http://schemas.microsoft.com/office/powerpoint/2010/main" val="4256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To evaluate the value added by our model, we compare it against simple baseline strategies. Sending vouchers to everyone leads to substantial losses because many customers would reorder anyway. Never sending vouchers yields zero revenue but misses opportunities. A random strategy performs poorly as well. Our model is only useful if it clearly outperforms these baselines in terms of expected revenue</a:t>
            </a:r>
          </a:p>
          <a:p>
            <a:r>
              <a:rPr lang="en-US" dirty="0"/>
              <a:t>This chart compares simple baseline strategies. Sending vouchers to everyone results in substantial losses because many customers would reorder anyway. Never sending vouchers creates no value but misses opportunities. A random strategy also performs poorly. These results show that naive or untargeted voucher strategies destroy value and motivate the need for a targeted, model-based approach.</a:t>
            </a:r>
          </a:p>
          <a:p>
            <a:r>
              <a:rPr lang="en-US" dirty="0"/>
              <a:t>This creates a benchmark:</a:t>
            </a:r>
          </a:p>
          <a:p>
            <a:r>
              <a:rPr lang="en-US" dirty="0"/>
              <a:t>“Our model is only useful if it beats these baselines in revenue.”</a:t>
            </a:r>
          </a:p>
          <a:p>
            <a:endParaRPr lang="de-DE" dirty="0"/>
          </a:p>
        </p:txBody>
      </p:sp>
      <p:sp>
        <p:nvSpPr>
          <p:cNvPr id="4" name="Foliennummernplatzhalter 3"/>
          <p:cNvSpPr>
            <a:spLocks noGrp="1"/>
          </p:cNvSpPr>
          <p:nvPr>
            <p:ph type="sldNum" sz="quarter" idx="5"/>
          </p:nvPr>
        </p:nvSpPr>
        <p:spPr/>
        <p:txBody>
          <a:bodyPr/>
          <a:lstStyle/>
          <a:p>
            <a:fld id="{3CD0AFA8-B93F-422A-BA81-9677115DA990}" type="slidenum">
              <a:rPr lang="de-DE" smtClean="0"/>
              <a:t>5</a:t>
            </a:fld>
            <a:endParaRPr lang="de-DE"/>
          </a:p>
        </p:txBody>
      </p:sp>
    </p:spTree>
    <p:extLst>
      <p:ext uri="{BB962C8B-B14F-4D97-AF65-F5344CB8AC3E}">
        <p14:creationId xmlns:p14="http://schemas.microsoft.com/office/powerpoint/2010/main" val="833056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4A841-B401-822B-3E4E-50B9979F1BF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62CBDC6-CCD2-08AF-4D3A-787DFCDA8B8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D4A493C-58C5-7EE8-E14E-EBA3343C7CAE}"/>
              </a:ext>
            </a:extLst>
          </p:cNvPr>
          <p:cNvSpPr>
            <a:spLocks noGrp="1"/>
          </p:cNvSpPr>
          <p:nvPr>
            <p:ph type="body" idx="1"/>
          </p:nvPr>
        </p:nvSpPr>
        <p:spPr/>
        <p:txBody>
          <a:bodyPr/>
          <a:lstStyle/>
          <a:p>
            <a:r>
              <a:rPr lang="en-US" b="1" dirty="0"/>
              <a:t>What it means:</a:t>
            </a:r>
            <a:endParaRPr lang="en-US" dirty="0"/>
          </a:p>
          <a:p>
            <a:r>
              <a:rPr lang="en-US" dirty="0"/>
              <a:t>Each model outputs </a:t>
            </a:r>
            <a:r>
              <a:rPr lang="en-US" b="1" dirty="0"/>
              <a:t>P(reorder=1)</a:t>
            </a:r>
            <a:endParaRPr lang="en-US" dirty="0"/>
          </a:p>
          <a:p>
            <a:r>
              <a:rPr lang="en-US" dirty="0"/>
              <a:t>You compute the ensemble probability as the </a:t>
            </a:r>
            <a:r>
              <a:rPr lang="en-US" b="1" dirty="0"/>
              <a:t>mean</a:t>
            </a:r>
            <a:r>
              <a:rPr lang="en-US" dirty="0"/>
              <a:t> across models</a:t>
            </a:r>
          </a:p>
          <a:p>
            <a:r>
              <a:rPr lang="en-US" dirty="0"/>
              <a:t>This often improves stability and performance vs any single model</a:t>
            </a:r>
          </a:p>
          <a:p>
            <a:pPr marL="285750" indent="-285750">
              <a:buFont typeface="Wingdings" panose="05000000000000000000" pitchFamily="2" charset="2"/>
              <a:buChar char="à"/>
            </a:pPr>
            <a:r>
              <a:rPr lang="de-DE" dirty="0">
                <a:sym typeface="Wingdings" panose="05000000000000000000" pitchFamily="2" charset="2"/>
              </a:rPr>
              <a:t>Fit </a:t>
            </a:r>
            <a:r>
              <a:rPr lang="de-DE" dirty="0" err="1">
                <a:sym typeface="Wingdings" panose="05000000000000000000" pitchFamily="2" charset="2"/>
              </a:rPr>
              <a:t>each</a:t>
            </a:r>
            <a:r>
              <a:rPr lang="de-DE" dirty="0">
                <a:sym typeface="Wingdings" panose="05000000000000000000" pitchFamily="2" charset="2"/>
              </a:rPr>
              <a:t> </a:t>
            </a:r>
            <a:r>
              <a:rPr lang="de-DE" dirty="0" err="1">
                <a:sym typeface="Wingdings" panose="05000000000000000000" pitchFamily="2" charset="2"/>
              </a:rPr>
              <a:t>base</a:t>
            </a:r>
            <a:r>
              <a:rPr lang="de-DE" dirty="0">
                <a:sym typeface="Wingdings" panose="05000000000000000000" pitchFamily="2" charset="2"/>
              </a:rPr>
              <a:t> </a:t>
            </a:r>
            <a:r>
              <a:rPr lang="de-DE" dirty="0" err="1">
                <a:sym typeface="Wingdings" panose="05000000000000000000" pitchFamily="2" charset="2"/>
              </a:rPr>
              <a:t>model</a:t>
            </a:r>
            <a:endParaRPr lang="de-DE" dirty="0">
              <a:sym typeface="Wingdings" panose="05000000000000000000" pitchFamily="2" charset="2"/>
            </a:endParaRPr>
          </a:p>
          <a:p>
            <a:pPr marL="285750" indent="-285750">
              <a:buFont typeface="Wingdings" panose="05000000000000000000" pitchFamily="2" charset="2"/>
              <a:buChar char="à"/>
            </a:pPr>
            <a:r>
              <a:rPr lang="de-DE" dirty="0" err="1">
                <a:sym typeface="Wingdings" panose="05000000000000000000" pitchFamily="2" charset="2"/>
              </a:rPr>
              <a:t>Predict</a:t>
            </a:r>
            <a:r>
              <a:rPr lang="de-DE" dirty="0">
                <a:sym typeface="Wingdings" panose="05000000000000000000" pitchFamily="2" charset="2"/>
              </a:rPr>
              <a:t> </a:t>
            </a:r>
            <a:r>
              <a:rPr lang="de-DE" dirty="0" err="1">
                <a:sym typeface="Wingdings" panose="05000000000000000000" pitchFamily="2" charset="2"/>
              </a:rPr>
              <a:t>probabilities</a:t>
            </a:r>
            <a:r>
              <a:rPr lang="de-DE" dirty="0">
                <a:sym typeface="Wingdings" panose="05000000000000000000" pitchFamily="2" charset="2"/>
              </a:rPr>
              <a:t> on </a:t>
            </a:r>
            <a:r>
              <a:rPr lang="de-DE" dirty="0" err="1">
                <a:sym typeface="Wingdings" panose="05000000000000000000" pitchFamily="2" charset="2"/>
              </a:rPr>
              <a:t>validation</a:t>
            </a:r>
            <a:r>
              <a:rPr lang="de-DE" dirty="0">
                <a:sym typeface="Wingdings" panose="05000000000000000000" pitchFamily="2" charset="2"/>
              </a:rPr>
              <a:t> and </a:t>
            </a:r>
            <a:r>
              <a:rPr lang="de-DE" dirty="0" err="1">
                <a:sym typeface="Wingdings" panose="05000000000000000000" pitchFamily="2" charset="2"/>
              </a:rPr>
              <a:t>average</a:t>
            </a:r>
            <a:r>
              <a:rPr lang="de-DE" dirty="0">
                <a:sym typeface="Wingdings" panose="05000000000000000000" pitchFamily="2" charset="2"/>
              </a:rPr>
              <a:t> </a:t>
            </a:r>
            <a:r>
              <a:rPr lang="de-DE" dirty="0" err="1">
                <a:sym typeface="Wingdings" panose="05000000000000000000" pitchFamily="2" charset="2"/>
              </a:rPr>
              <a:t>them</a:t>
            </a:r>
            <a:endParaRPr lang="de-DE" dirty="0">
              <a:sym typeface="Wingdings" panose="05000000000000000000" pitchFamily="2" charset="2"/>
            </a:endParaRPr>
          </a:p>
          <a:p>
            <a:pPr marL="285750" indent="-285750">
              <a:buFont typeface="Wingdings" panose="05000000000000000000" pitchFamily="2" charset="2"/>
              <a:buChar char="à"/>
            </a:pPr>
            <a:r>
              <a:rPr lang="de-DE" dirty="0" err="1">
                <a:sym typeface="Wingdings" panose="05000000000000000000" pitchFamily="2" charset="2"/>
              </a:rPr>
              <a:t>Choose</a:t>
            </a:r>
            <a:r>
              <a:rPr lang="de-DE" dirty="0">
                <a:sym typeface="Wingdings" panose="05000000000000000000" pitchFamily="2" charset="2"/>
              </a:rPr>
              <a:t> </a:t>
            </a:r>
            <a:r>
              <a:rPr lang="de-DE" dirty="0" err="1">
                <a:sym typeface="Wingdings" panose="05000000000000000000" pitchFamily="2" charset="2"/>
              </a:rPr>
              <a:t>revenue</a:t>
            </a:r>
            <a:r>
              <a:rPr lang="de-DE" dirty="0">
                <a:sym typeface="Wingdings" panose="05000000000000000000" pitchFamily="2" charset="2"/>
              </a:rPr>
              <a:t>-optimal </a:t>
            </a:r>
            <a:r>
              <a:rPr lang="de-DE" dirty="0" err="1">
                <a:sym typeface="Wingdings" panose="05000000000000000000" pitchFamily="2" charset="2"/>
              </a:rPr>
              <a:t>threshold</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ensemble</a:t>
            </a:r>
            <a:r>
              <a:rPr lang="de-DE" dirty="0">
                <a:sym typeface="Wingdings" panose="05000000000000000000" pitchFamily="2" charset="2"/>
              </a:rPr>
              <a:t> </a:t>
            </a:r>
            <a:endParaRPr lang="de-DE" dirty="0"/>
          </a:p>
          <a:p>
            <a:endParaRPr lang="de-DE" dirty="0"/>
          </a:p>
          <a:p>
            <a:r>
              <a:rPr lang="de-DE" dirty="0" err="1"/>
              <a:t>Choose</a:t>
            </a:r>
            <a:r>
              <a:rPr lang="de-DE" dirty="0"/>
              <a:t> </a:t>
            </a:r>
            <a:r>
              <a:rPr lang="de-DE" dirty="0" err="1"/>
              <a:t>revenue</a:t>
            </a:r>
            <a:r>
              <a:rPr lang="de-DE" dirty="0"/>
              <a:t> optimal </a:t>
            </a:r>
            <a:r>
              <a:rPr lang="de-DE" dirty="0" err="1"/>
              <a:t>threshold</a:t>
            </a:r>
            <a:r>
              <a:rPr lang="de-DE" dirty="0"/>
              <a:t> </a:t>
            </a:r>
            <a:r>
              <a:rPr lang="de-DE" dirty="0" err="1"/>
              <a:t>for</a:t>
            </a:r>
            <a:r>
              <a:rPr lang="de-DE" dirty="0"/>
              <a:t> </a:t>
            </a:r>
            <a:r>
              <a:rPr lang="de-DE" dirty="0" err="1"/>
              <a:t>ensemble</a:t>
            </a:r>
            <a:r>
              <a:rPr lang="de-DE" dirty="0"/>
              <a:t>: </a:t>
            </a:r>
          </a:p>
          <a:p>
            <a:pPr marL="171450" indent="-171450">
              <a:buFont typeface="Arial" panose="020B0604020202020204" pitchFamily="34" charset="0"/>
              <a:buChar char="•"/>
            </a:pPr>
            <a:r>
              <a:rPr lang="en-US" dirty="0"/>
              <a:t>You search thresholds</a:t>
            </a:r>
          </a:p>
          <a:p>
            <a:pPr marL="171450" indent="-171450">
              <a:buFont typeface="Arial" panose="020B0604020202020204" pitchFamily="34" charset="0"/>
              <a:buChar char="•"/>
            </a:pPr>
            <a:r>
              <a:rPr lang="en-US" dirty="0"/>
              <a:t>Pick the threshold that maximizes </a:t>
            </a:r>
            <a:r>
              <a:rPr lang="en-US" b="1" dirty="0"/>
              <a:t>total validation revenue</a:t>
            </a:r>
            <a:endParaRPr lang="en-US" dirty="0"/>
          </a:p>
          <a:p>
            <a:pPr marL="171450" indent="-171450">
              <a:buFont typeface="Arial" panose="020B0604020202020204" pitchFamily="34" charset="0"/>
              <a:buChar char="•"/>
            </a:pPr>
            <a:r>
              <a:rPr lang="en-US" dirty="0"/>
              <a:t>Then you compute:</a:t>
            </a:r>
          </a:p>
          <a:p>
            <a:pPr marL="628650" lvl="1" indent="-171450">
              <a:buFont typeface="Arial" panose="020B0604020202020204" pitchFamily="34" charset="0"/>
              <a:buChar char="•"/>
            </a:pPr>
            <a:r>
              <a:rPr lang="en-US" dirty="0"/>
              <a:t>best threshold</a:t>
            </a:r>
          </a:p>
          <a:p>
            <a:pPr marL="628650" lvl="1" indent="-171450">
              <a:buFont typeface="Arial" panose="020B0604020202020204" pitchFamily="34" charset="0"/>
              <a:buChar char="•"/>
            </a:pPr>
            <a:r>
              <a:rPr lang="en-US" dirty="0"/>
              <a:t>total revenue</a:t>
            </a:r>
          </a:p>
          <a:p>
            <a:pPr marL="628650" lvl="1" indent="-171450">
              <a:buFont typeface="Arial" panose="020B0604020202020204" pitchFamily="34" charset="0"/>
              <a:buChar char="•"/>
            </a:pPr>
            <a:r>
              <a:rPr lang="en-US" dirty="0"/>
              <a:t>average revenue</a:t>
            </a:r>
          </a:p>
          <a:p>
            <a:pPr marL="628650" lvl="1" indent="-171450">
              <a:buFont typeface="Arial" panose="020B0604020202020204" pitchFamily="34" charset="0"/>
              <a:buChar char="•"/>
            </a:pPr>
            <a:r>
              <a:rPr lang="en-US" dirty="0"/>
              <a:t>send-rate (how many get vouchers)</a:t>
            </a:r>
          </a:p>
          <a:p>
            <a:endParaRPr lang="de-DE" dirty="0"/>
          </a:p>
          <a:p>
            <a:r>
              <a:rPr lang="en-US" dirty="0"/>
              <a:t>“Instead of relying on a single model, we combine three strong models to improve the stability of probability estimates. Each model predicts the likelihood of a customer reordering, and we average these probabilities. Based on the combined prediction, we send vouchers only when doing so is expected to generate positive revenue. This approach increases expected revenue to over €2,000 on the validation set.”</a:t>
            </a:r>
            <a:endParaRPr lang="de-DE" dirty="0"/>
          </a:p>
          <a:p>
            <a:endParaRPr lang="de-DE" dirty="0"/>
          </a:p>
        </p:txBody>
      </p:sp>
      <p:sp>
        <p:nvSpPr>
          <p:cNvPr id="4" name="Foliennummernplatzhalter 3">
            <a:extLst>
              <a:ext uri="{FF2B5EF4-FFF2-40B4-BE49-F238E27FC236}">
                <a16:creationId xmlns:a16="http://schemas.microsoft.com/office/drawing/2014/main" id="{38290FC3-088A-2956-CFAD-D7ADA4843AF9}"/>
              </a:ext>
            </a:extLst>
          </p:cNvPr>
          <p:cNvSpPr>
            <a:spLocks noGrp="1"/>
          </p:cNvSpPr>
          <p:nvPr>
            <p:ph type="sldNum" sz="quarter" idx="5"/>
          </p:nvPr>
        </p:nvSpPr>
        <p:spPr/>
        <p:txBody>
          <a:bodyPr/>
          <a:lstStyle/>
          <a:p>
            <a:fld id="{3CD0AFA8-B93F-422A-BA81-9677115DA990}" type="slidenum">
              <a:rPr lang="de-DE" smtClean="0"/>
              <a:t>6</a:t>
            </a:fld>
            <a:endParaRPr lang="de-DE"/>
          </a:p>
        </p:txBody>
      </p:sp>
    </p:spTree>
    <p:extLst>
      <p:ext uri="{BB962C8B-B14F-4D97-AF65-F5344CB8AC3E}">
        <p14:creationId xmlns:p14="http://schemas.microsoft.com/office/powerpoint/2010/main" val="2124324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“Our model predicts reorder probabilities for each customer. We then vary the probability threshold that determines whether a voucher is sent and compute the resulting total revenue. The curve on the right shows that revenue is maximized at a threshold of about 0.29. At this point, the trade-off between gaining additional reorders and avoiding unnecessary vouchers is optimal. The confusion matrix on the left shows the resulting voucher decisions: vouchers are sent to customers with low predicted reorder probability, while others receive none.”</a:t>
            </a:r>
            <a:endParaRPr lang="de-DE" dirty="0"/>
          </a:p>
        </p:txBody>
      </p:sp>
      <p:sp>
        <p:nvSpPr>
          <p:cNvPr id="4" name="Foliennummernplatzhalter 3"/>
          <p:cNvSpPr>
            <a:spLocks noGrp="1"/>
          </p:cNvSpPr>
          <p:nvPr>
            <p:ph type="sldNum" sz="quarter" idx="5"/>
          </p:nvPr>
        </p:nvSpPr>
        <p:spPr/>
        <p:txBody>
          <a:bodyPr/>
          <a:lstStyle/>
          <a:p>
            <a:fld id="{3CD0AFA8-B93F-422A-BA81-9677115DA990}" type="slidenum">
              <a:rPr lang="de-DE" smtClean="0"/>
              <a:t>7</a:t>
            </a:fld>
            <a:endParaRPr lang="de-DE"/>
          </a:p>
        </p:txBody>
      </p:sp>
    </p:spTree>
    <p:extLst>
      <p:ext uri="{BB962C8B-B14F-4D97-AF65-F5344CB8AC3E}">
        <p14:creationId xmlns:p14="http://schemas.microsoft.com/office/powerpoint/2010/main" val="3453721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kern="1200" dirty="0">
                <a:solidFill>
                  <a:schemeClr val="tx1"/>
                </a:solidFill>
                <a:effectLst/>
                <a:latin typeface="+mn-lt"/>
                <a:ea typeface="+mn-ea"/>
                <a:cs typeface="+mn-cs"/>
              </a:rPr>
              <a:t>For each feature I shuffle its values in the validation set and measure how much the models ROC-AUC drops. If ROC AUC drops a lot, the feature is important for ranking.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It is to be seen that : </a:t>
            </a:r>
            <a:r>
              <a:rPr lang="en-US" sz="1200" b="0" kern="1200" dirty="0" err="1">
                <a:solidFill>
                  <a:schemeClr val="tx1"/>
                </a:solidFill>
                <a:effectLst/>
                <a:latin typeface="+mn-lt"/>
                <a:ea typeface="+mn-ea"/>
                <a:cs typeface="+mn-cs"/>
              </a:rPr>
              <a:t>remi</a:t>
            </a:r>
            <a:r>
              <a:rPr lang="en-US" sz="1200" b="0" kern="1200" dirty="0">
                <a:solidFill>
                  <a:schemeClr val="tx1"/>
                </a:solidFill>
                <a:effectLst/>
                <a:latin typeface="+mn-lt"/>
                <a:ea typeface="+mn-ea"/>
                <a:cs typeface="+mn-cs"/>
              </a:rPr>
              <a:t> is clearly the strongest driver of ranking performance (biggest ROC-AUC drop).</a:t>
            </a:r>
          </a:p>
          <a:p>
            <a:r>
              <a:rPr lang="en-US" sz="1200" b="0" kern="1200" dirty="0">
                <a:solidFill>
                  <a:schemeClr val="tx1"/>
                </a:solidFill>
                <a:effectLst/>
                <a:latin typeface="+mn-lt"/>
                <a:ea typeface="+mn-ea"/>
                <a:cs typeface="+mn-cs"/>
              </a:rPr>
              <a:t>Strong secondary drivers include: </a:t>
            </a:r>
            <a:r>
              <a:rPr lang="en-US" sz="1200" b="0" kern="1200" dirty="0" err="1">
                <a:solidFill>
                  <a:schemeClr val="tx1"/>
                </a:solidFill>
                <a:effectLst/>
                <a:latin typeface="+mn-lt"/>
                <a:ea typeface="+mn-ea"/>
                <a:cs typeface="+mn-cs"/>
              </a:rPr>
              <a:t>promised_delivery_month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order_month</a:t>
            </a:r>
            <a:r>
              <a:rPr lang="en-US" sz="1200" b="0" kern="1200" dirty="0">
                <a:solidFill>
                  <a:schemeClr val="tx1"/>
                </a:solidFill>
                <a:effectLst/>
                <a:latin typeface="+mn-lt"/>
                <a:ea typeface="+mn-ea"/>
                <a:cs typeface="+mn-cs"/>
              </a:rPr>
              <a:t>, newsletter_0/1, weight, w1, case, voucher_1</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Many of these are behavioral/order-content variables (returns/remissions, weight, item mix) and timing variables (</a:t>
            </a:r>
            <a:r>
              <a:rPr lang="en-US" sz="1200" b="0" kern="1200" dirty="0" err="1">
                <a:solidFill>
                  <a:schemeClr val="tx1"/>
                </a:solidFill>
                <a:effectLst/>
                <a:latin typeface="+mn-lt"/>
                <a:ea typeface="+mn-ea"/>
                <a:cs typeface="+mn-cs"/>
              </a:rPr>
              <a:t>order_month</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promised_delivery_month</a:t>
            </a:r>
            <a:r>
              <a:rPr lang="en-US" sz="1200" b="0" kern="1200" dirty="0">
                <a:solidFill>
                  <a:schemeClr val="tx1"/>
                </a:solidFill>
                <a:effectLst/>
                <a:latin typeface="+mn-lt"/>
                <a:ea typeface="+mn-ea"/>
                <a:cs typeface="+mn-cs"/>
              </a:rPr>
              <a:t>).</a:t>
            </a:r>
          </a:p>
          <a:p>
            <a:endParaRPr lang="en-US" sz="1200" b="0" kern="1200" dirty="0">
              <a:solidFill>
                <a:schemeClr val="tx1"/>
              </a:solidFill>
              <a:effectLst/>
              <a:latin typeface="+mn-lt"/>
              <a:ea typeface="+mn-ea"/>
              <a:cs typeface="+mn-cs"/>
            </a:endParaRPr>
          </a:p>
          <a:p>
            <a:r>
              <a:rPr lang="en-US" dirty="0"/>
              <a:t>“This plot shows permutation feature importance for our selected gradient boosting model. Return behavior is by far the strongest predictor of reordering, followed by seasonal effects such as order month. Operational features like weight and delivery characteristics also contribute, but to a lesser extent. Overall, the model relies on intuitive and interpretable customer behavior signals rather than arbitrary noise.”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3CD0AFA8-B93F-422A-BA81-9677115DA990}" type="slidenum">
              <a:rPr lang="de-DE" smtClean="0"/>
              <a:t>8</a:t>
            </a:fld>
            <a:endParaRPr lang="de-DE"/>
          </a:p>
        </p:txBody>
      </p:sp>
    </p:spTree>
    <p:extLst>
      <p:ext uri="{BB962C8B-B14F-4D97-AF65-F5344CB8AC3E}">
        <p14:creationId xmlns:p14="http://schemas.microsoft.com/office/powerpoint/2010/main" val="2031924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kern="1200" dirty="0">
                <a:solidFill>
                  <a:schemeClr val="tx1"/>
                </a:solidFill>
                <a:effectLst/>
                <a:latin typeface="+mn-lt"/>
                <a:ea typeface="+mn-ea"/>
                <a:cs typeface="+mn-cs"/>
              </a:rPr>
              <a:t>Gradient boosting</a:t>
            </a:r>
          </a:p>
          <a:p>
            <a:r>
              <a:rPr lang="en-US" sz="1200" b="0" kern="1200" dirty="0">
                <a:solidFill>
                  <a:schemeClr val="tx1"/>
                </a:solidFill>
                <a:effectLst/>
                <a:latin typeface="+mn-lt"/>
                <a:ea typeface="+mn-ea"/>
                <a:cs typeface="+mn-cs"/>
              </a:rPr>
              <a:t>The mean absolute SHAP for each feature.</a:t>
            </a:r>
          </a:p>
          <a:p>
            <a:r>
              <a:rPr lang="en-US" sz="1200" b="0" kern="1200" dirty="0">
                <a:solidFill>
                  <a:schemeClr val="tx1"/>
                </a:solidFill>
                <a:effectLst/>
                <a:latin typeface="+mn-lt"/>
                <a:ea typeface="+mn-ea"/>
                <a:cs typeface="+mn-cs"/>
              </a:rPr>
              <a:t>On average how much does this feature move the model output away from the baseline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bigger the bar it indicates that the feature tends to have a large impact on predicted probabilities across many customers. </a:t>
            </a:r>
          </a:p>
          <a:p>
            <a:r>
              <a:rPr lang="en-US" sz="1200" b="0" kern="1200" dirty="0">
                <a:solidFill>
                  <a:schemeClr val="tx1"/>
                </a:solidFill>
                <a:effectLst/>
                <a:latin typeface="+mn-lt"/>
                <a:ea typeface="+mn-ea"/>
                <a:cs typeface="+mn-cs"/>
              </a:rPr>
              <a:t>Top drivers by SHAP magnitude:  </a:t>
            </a:r>
            <a:r>
              <a:rPr lang="en-US" sz="1200" b="0" kern="1200" dirty="0" err="1">
                <a:solidFill>
                  <a:schemeClr val="tx1"/>
                </a:solidFill>
                <a:effectLst/>
                <a:latin typeface="+mn-lt"/>
                <a:ea typeface="+mn-ea"/>
                <a:cs typeface="+mn-cs"/>
              </a:rPr>
              <a:t>promised_delivery_month</a:t>
            </a:r>
            <a:r>
              <a:rPr lang="en-US" sz="1200" b="0" kern="1200" dirty="0">
                <a:solidFill>
                  <a:schemeClr val="tx1"/>
                </a:solidFill>
                <a:effectLst/>
                <a:latin typeface="+mn-lt"/>
                <a:ea typeface="+mn-ea"/>
                <a:cs typeface="+mn-cs"/>
              </a:rPr>
              <a:t>, weight, </a:t>
            </a:r>
            <a:r>
              <a:rPr lang="en-US" sz="1200" b="0" kern="1200" dirty="0" err="1">
                <a:solidFill>
                  <a:schemeClr val="tx1"/>
                </a:solidFill>
                <a:effectLst/>
                <a:latin typeface="+mn-lt"/>
                <a:ea typeface="+mn-ea"/>
                <a:cs typeface="+mn-cs"/>
              </a:rPr>
              <a:t>order_month</a:t>
            </a:r>
            <a:r>
              <a:rPr lang="en-US" sz="1200" b="0" kern="1200" dirty="0">
                <a:solidFill>
                  <a:schemeClr val="tx1"/>
                </a:solidFill>
                <a:effectLst/>
                <a:latin typeface="+mn-lt"/>
                <a:ea typeface="+mn-ea"/>
                <a:cs typeface="+mn-cs"/>
              </a:rPr>
              <a:t>, entry_1, newsletter_0, </a:t>
            </a:r>
            <a:r>
              <a:rPr lang="en-US" sz="1200" b="0" kern="1200" dirty="0" err="1">
                <a:solidFill>
                  <a:schemeClr val="tx1"/>
                </a:solidFill>
                <a:effectLst/>
                <a:latin typeface="+mn-lt"/>
                <a:ea typeface="+mn-ea"/>
                <a:cs typeface="+mn-cs"/>
              </a:rPr>
              <a:t>numberitems</a:t>
            </a:r>
            <a:r>
              <a:rPr lang="en-US" sz="1200" b="0" kern="1200" dirty="0">
                <a:solidFill>
                  <a:schemeClr val="tx1"/>
                </a:solidFill>
                <a:effectLst/>
                <a:latin typeface="+mn-lt"/>
                <a:ea typeface="+mn-ea"/>
                <a:cs typeface="+mn-cs"/>
              </a:rPr>
              <a:t>, case, w1, newsletter_1, </a:t>
            </a:r>
            <a:r>
              <a:rPr lang="en-US" sz="1200" b="0" kern="1200" dirty="0" err="1">
                <a:solidFill>
                  <a:schemeClr val="tx1"/>
                </a:solidFill>
                <a:effectLst/>
                <a:latin typeface="+mn-lt"/>
                <a:ea typeface="+mn-ea"/>
                <a:cs typeface="+mn-cs"/>
              </a:rPr>
              <a:t>remi</a:t>
            </a:r>
            <a:r>
              <a:rPr lang="en-US" sz="1200" b="0" kern="1200" dirty="0">
                <a:solidFill>
                  <a:schemeClr val="tx1"/>
                </a:solidFill>
                <a:effectLst/>
                <a:latin typeface="+mn-lt"/>
                <a:ea typeface="+mn-ea"/>
                <a:cs typeface="+mn-cs"/>
              </a:rPr>
              <a:t>, voucher_1, </a:t>
            </a:r>
            <a:r>
              <a:rPr lang="en-US" sz="1200" b="0" kern="1200" dirty="0" err="1">
                <a:solidFill>
                  <a:schemeClr val="tx1"/>
                </a:solidFill>
                <a:effectLst/>
                <a:latin typeface="+mn-lt"/>
                <a:ea typeface="+mn-ea"/>
                <a:cs typeface="+mn-cs"/>
              </a:rPr>
              <a:t>delivery_difference</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SHAP indicates which variables most strongly shift predicted reorder probability for individual customers. Timing, shipment characteristics (weight), and basket structure (</a:t>
            </a:r>
            <a:r>
              <a:rPr lang="en-US" sz="1200" b="0" kern="1200" dirty="0" err="1">
                <a:solidFill>
                  <a:schemeClr val="tx1"/>
                </a:solidFill>
                <a:effectLst/>
                <a:latin typeface="+mn-lt"/>
                <a:ea typeface="+mn-ea"/>
                <a:cs typeface="+mn-cs"/>
              </a:rPr>
              <a:t>numberitems</a:t>
            </a:r>
            <a:r>
              <a:rPr lang="en-US" sz="1200" b="0" kern="1200" dirty="0">
                <a:solidFill>
                  <a:schemeClr val="tx1"/>
                </a:solidFill>
                <a:effectLst/>
                <a:latin typeface="+mn-lt"/>
                <a:ea typeface="+mn-ea"/>
                <a:cs typeface="+mn-cs"/>
              </a:rPr>
              <a:t>, product category indicators) dominate the model’s decision logic.</a:t>
            </a:r>
          </a:p>
          <a:p>
            <a:br>
              <a:rPr lang="en-US" sz="1200" b="0" kern="1200" dirty="0">
                <a:solidFill>
                  <a:schemeClr val="tx1"/>
                </a:solidFill>
                <a:effectLst/>
                <a:latin typeface="+mn-lt"/>
                <a:ea typeface="+mn-ea"/>
                <a:cs typeface="+mn-cs"/>
              </a:rPr>
            </a:br>
            <a:r>
              <a:rPr lang="en-US" dirty="0"/>
              <a:t>This SHAP summary plot explains how the selected model forms its predictions. Each bar shows the average contribution of a feature to the predicted reorder probability. We see that order size, timing, and return behavior all play an important role. Importantly, no single feature fully determines the decision — the model combines many intuitive signals to estimate the likelihood of reordering.”</a:t>
            </a:r>
            <a:endParaRPr lang="en-US" sz="1200" b="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3CD0AFA8-B93F-422A-BA81-9677115DA990}" type="slidenum">
              <a:rPr lang="de-DE" smtClean="0"/>
              <a:t>9</a:t>
            </a:fld>
            <a:endParaRPr lang="de-DE"/>
          </a:p>
        </p:txBody>
      </p:sp>
    </p:spTree>
    <p:extLst>
      <p:ext uri="{BB962C8B-B14F-4D97-AF65-F5344CB8AC3E}">
        <p14:creationId xmlns:p14="http://schemas.microsoft.com/office/powerpoint/2010/main" val="480233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kern="1200" dirty="0">
                <a:solidFill>
                  <a:schemeClr val="tx1"/>
                </a:solidFill>
                <a:effectLst/>
                <a:latin typeface="+mn-lt"/>
                <a:ea typeface="+mn-ea"/>
                <a:cs typeface="+mn-cs"/>
              </a:rPr>
              <a:t>Example customer: p(reorder)=0.175 &lt; t=0.20 -&gt; SEND voucher</a:t>
            </a:r>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this single instance domain is the strongest driver down. Being in this particular domain category is associated (in the model) with lower reorder likelihood for this customer.</a:t>
            </a:r>
          </a:p>
          <a:p>
            <a:r>
              <a:rPr lang="en-US" sz="1200" b="0" kern="1200" dirty="0">
                <a:solidFill>
                  <a:schemeClr val="tx1"/>
                </a:solidFill>
                <a:effectLst/>
                <a:latin typeface="+mn-lt"/>
                <a:ea typeface="+mn-ea"/>
                <a:cs typeface="+mn-cs"/>
              </a:rPr>
              <a:t>Timing and entry status are also pulling the score down.</a:t>
            </a:r>
          </a:p>
          <a:p>
            <a:r>
              <a:rPr lang="en-US" sz="1200" b="0" kern="1200" dirty="0">
                <a:solidFill>
                  <a:schemeClr val="tx1"/>
                </a:solidFill>
                <a:effectLst/>
                <a:latin typeface="+mn-lt"/>
                <a:ea typeface="+mn-ea"/>
                <a:cs typeface="+mn-cs"/>
              </a:rPr>
              <a:t>The strongest upward push is w5. This product-category signal is associated with higher reorder likelihood.</a:t>
            </a:r>
          </a:p>
          <a:p>
            <a:r>
              <a:rPr lang="en-US" sz="1200" b="0" kern="1200" dirty="0">
                <a:solidFill>
                  <a:schemeClr val="tx1"/>
                </a:solidFill>
                <a:effectLst/>
                <a:latin typeface="+mn-lt"/>
                <a:ea typeface="+mn-ea"/>
                <a:cs typeface="+mn-cs"/>
              </a:rPr>
              <a:t>Moreover weight = 0 pushes the likelihood to rebuy higher for this customer</a:t>
            </a:r>
          </a:p>
          <a:p>
            <a:endParaRPr lang="en-US" sz="1200" b="0" kern="1200" dirty="0">
              <a:solidFill>
                <a:schemeClr val="tx1"/>
              </a:solidFill>
              <a:effectLst/>
              <a:latin typeface="+mn-lt"/>
              <a:ea typeface="+mn-ea"/>
              <a:cs typeface="+mn-cs"/>
            </a:endParaRPr>
          </a:p>
          <a:p>
            <a:r>
              <a:rPr lang="en-US" dirty="0"/>
              <a:t>“This plot explains an individual prediction for one customer. Each bar shows how a feature pushes the predicted reorder probability up or down relative to the average customer. In this case, several factors decrease the likelihood of reordering, resulting in a low predicted probability. Since this probability is below our revenue-optimal threshold, the model recommends sending a voucher.”</a:t>
            </a:r>
            <a:endParaRPr lang="en-US" sz="1200" b="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3CD0AFA8-B93F-422A-BA81-9677115DA990}" type="slidenum">
              <a:rPr lang="de-DE" smtClean="0"/>
              <a:t>10</a:t>
            </a:fld>
            <a:endParaRPr lang="de-DE"/>
          </a:p>
        </p:txBody>
      </p:sp>
    </p:spTree>
    <p:extLst>
      <p:ext uri="{BB962C8B-B14F-4D97-AF65-F5344CB8AC3E}">
        <p14:creationId xmlns:p14="http://schemas.microsoft.com/office/powerpoint/2010/main" val="3460343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de-DE"/>
              <a:t>Mastertitelformat bearbeiten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r>
              <a:rPr lang="en-US"/>
              <a:t>1/29/2026</a:t>
            </a:r>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832B0F4-0138-426C-A884-6EC3C10E0B5B}" type="slidenum">
              <a:rPr lang="de-DE" smtClean="0"/>
              <a:t>‹Nr.›</a:t>
            </a:fld>
            <a:endParaRPr lang="de-D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84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r>
              <a:rPr lang="en-US"/>
              <a:t>1/29/2026</a:t>
            </a:r>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832B0F4-0138-426C-A884-6EC3C10E0B5B}" type="slidenum">
              <a:rPr lang="de-DE" smtClean="0"/>
              <a:t>‹Nr.›</a:t>
            </a:fld>
            <a:endParaRPr lang="de-DE"/>
          </a:p>
        </p:txBody>
      </p:sp>
    </p:spTree>
    <p:extLst>
      <p:ext uri="{BB962C8B-B14F-4D97-AF65-F5344CB8AC3E}">
        <p14:creationId xmlns:p14="http://schemas.microsoft.com/office/powerpoint/2010/main" val="2146275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de-DE"/>
              <a:t>Mastertitelformat bearbeiten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r>
              <a:rPr lang="en-US"/>
              <a:t>1/29/2026</a:t>
            </a:r>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832B0F4-0138-426C-A884-6EC3C10E0B5B}" type="slidenum">
              <a:rPr lang="de-DE" smtClean="0"/>
              <a:t>‹Nr.›</a:t>
            </a:fld>
            <a:endParaRPr lang="de-D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2665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de-DE"/>
              <a:t>Mastertitelformat bearbeiten</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r>
              <a:rPr lang="en-US"/>
              <a:t>1/29/2026</a:t>
            </a:r>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832B0F4-0138-426C-A884-6EC3C10E0B5B}" type="slidenum">
              <a:rPr lang="de-DE" smtClean="0"/>
              <a:t>‹Nr.›</a:t>
            </a:fld>
            <a:endParaRPr lang="de-DE"/>
          </a:p>
        </p:txBody>
      </p:sp>
    </p:spTree>
    <p:extLst>
      <p:ext uri="{BB962C8B-B14F-4D97-AF65-F5344CB8AC3E}">
        <p14:creationId xmlns:p14="http://schemas.microsoft.com/office/powerpoint/2010/main" val="1209602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de-DE"/>
              <a:t>Mastertitelformat bearbeiten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1097280" y="2582334"/>
            <a:ext cx="4937760" cy="33782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217920" y="2582334"/>
            <a:ext cx="4937760" cy="33782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r>
              <a:rPr lang="en-US"/>
              <a:t>1/29/2026</a:t>
            </a:r>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9832B0F4-0138-426C-A884-6EC3C10E0B5B}" type="slidenum">
              <a:rPr lang="de-DE" smtClean="0"/>
              <a:t>‹Nr.›</a:t>
            </a:fld>
            <a:endParaRPr lang="de-DE"/>
          </a:p>
        </p:txBody>
      </p:sp>
    </p:spTree>
    <p:extLst>
      <p:ext uri="{BB962C8B-B14F-4D97-AF65-F5344CB8AC3E}">
        <p14:creationId xmlns:p14="http://schemas.microsoft.com/office/powerpoint/2010/main" val="1704649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r>
              <a:rPr lang="en-US"/>
              <a:t>1/29/2026</a:t>
            </a:r>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9832B0F4-0138-426C-A884-6EC3C10E0B5B}" type="slidenum">
              <a:rPr lang="de-DE" smtClean="0"/>
              <a:t>‹Nr.›</a:t>
            </a:fld>
            <a:endParaRPr lang="de-DE"/>
          </a:p>
        </p:txBody>
      </p:sp>
    </p:spTree>
    <p:extLst>
      <p:ext uri="{BB962C8B-B14F-4D97-AF65-F5344CB8AC3E}">
        <p14:creationId xmlns:p14="http://schemas.microsoft.com/office/powerpoint/2010/main" val="1393134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7" name="Date Placeholder 6"/>
          <p:cNvSpPr>
            <a:spLocks noGrp="1"/>
          </p:cNvSpPr>
          <p:nvPr>
            <p:ph type="dt" sz="half" idx="10"/>
          </p:nvPr>
        </p:nvSpPr>
        <p:spPr/>
        <p:txBody>
          <a:bodyPr/>
          <a:lstStyle/>
          <a:p>
            <a:r>
              <a:rPr lang="en-US"/>
              <a:t>1/29/2026</a:t>
            </a:r>
            <a:endParaRPr lang="de-D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de-DE"/>
          </a:p>
        </p:txBody>
      </p:sp>
      <p:sp>
        <p:nvSpPr>
          <p:cNvPr id="9" name="Slide Number Placeholder 8"/>
          <p:cNvSpPr>
            <a:spLocks noGrp="1"/>
          </p:cNvSpPr>
          <p:nvPr>
            <p:ph type="sldNum" sz="quarter" idx="12"/>
          </p:nvPr>
        </p:nvSpPr>
        <p:spPr/>
        <p:txBody>
          <a:bodyPr/>
          <a:lstStyle/>
          <a:p>
            <a:fld id="{9832B0F4-0138-426C-A884-6EC3C10E0B5B}" type="slidenum">
              <a:rPr lang="de-DE" smtClean="0"/>
              <a:t>‹Nr.›</a:t>
            </a:fld>
            <a:endParaRPr lang="de-DE"/>
          </a:p>
        </p:txBody>
      </p:sp>
    </p:spTree>
    <p:extLst>
      <p:ext uri="{BB962C8B-B14F-4D97-AF65-F5344CB8AC3E}">
        <p14:creationId xmlns:p14="http://schemas.microsoft.com/office/powerpoint/2010/main" val="980525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de-DE"/>
              <a:t>Mastertitelformat bearbeiten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1/29/2026</a:t>
            </a:r>
            <a:endParaRPr lang="de-D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de-D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832B0F4-0138-426C-A884-6EC3C10E0B5B}" type="slidenum">
              <a:rPr lang="de-DE" smtClean="0"/>
              <a:t>‹Nr.›</a:t>
            </a:fld>
            <a:endParaRPr lang="de-DE"/>
          </a:p>
        </p:txBody>
      </p:sp>
    </p:spTree>
    <p:extLst>
      <p:ext uri="{BB962C8B-B14F-4D97-AF65-F5344CB8AC3E}">
        <p14:creationId xmlns:p14="http://schemas.microsoft.com/office/powerpoint/2010/main" val="319974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de-DE"/>
              <a:t>Mastertitelformat bearbeiten</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lvl1pPr>
              <a:defRPr>
                <a:solidFill>
                  <a:schemeClr val="tx2"/>
                </a:solidFill>
              </a:defRPr>
            </a:lvl1pPr>
          </a:lstStyle>
          <a:p>
            <a:r>
              <a:rPr lang="en-US"/>
              <a:t>1/29/2026</a:t>
            </a:r>
            <a:endParaRPr lang="de-DE"/>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de-D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832B0F4-0138-426C-A884-6EC3C10E0B5B}" type="slidenum">
              <a:rPr lang="de-DE" smtClean="0"/>
              <a:t>‹Nr.›</a:t>
            </a:fld>
            <a:endParaRPr lang="de-DE"/>
          </a:p>
        </p:txBody>
      </p:sp>
    </p:spTree>
    <p:extLst>
      <p:ext uri="{BB962C8B-B14F-4D97-AF65-F5344CB8AC3E}">
        <p14:creationId xmlns:p14="http://schemas.microsoft.com/office/powerpoint/2010/main" val="33399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r>
              <a:rPr lang="en-US"/>
              <a:t>1/29/2026</a:t>
            </a:r>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832B0F4-0138-426C-A884-6EC3C10E0B5B}" type="slidenum">
              <a:rPr lang="de-DE" smtClean="0"/>
              <a:t>‹Nr.›</a:t>
            </a:fld>
            <a:endParaRPr lang="de-DE"/>
          </a:p>
        </p:txBody>
      </p:sp>
    </p:spTree>
    <p:extLst>
      <p:ext uri="{BB962C8B-B14F-4D97-AF65-F5344CB8AC3E}">
        <p14:creationId xmlns:p14="http://schemas.microsoft.com/office/powerpoint/2010/main" val="810722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r>
              <a:rPr lang="en-US"/>
              <a:t>1/29/2026</a:t>
            </a:r>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832B0F4-0138-426C-A884-6EC3C10E0B5B}" type="slidenum">
              <a:rPr lang="de-DE" smtClean="0"/>
              <a:t>‹Nr.›</a:t>
            </a:fld>
            <a:endParaRPr lang="de-DE"/>
          </a:p>
        </p:txBody>
      </p:sp>
    </p:spTree>
    <p:extLst>
      <p:ext uri="{BB962C8B-B14F-4D97-AF65-F5344CB8AC3E}">
        <p14:creationId xmlns:p14="http://schemas.microsoft.com/office/powerpoint/2010/main" val="1728397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de-DE"/>
              <a:t>Mastertitelformat bearbeiten</a:t>
            </a:r>
            <a:endParaRPr lang="en-US"/>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1/29/2026</a:t>
            </a:r>
            <a:endParaRPr lang="de-D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de-D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832B0F4-0138-426C-A884-6EC3C10E0B5B}" type="slidenum">
              <a:rPr lang="de-DE" smtClean="0"/>
              <a:t>‹Nr.›</a:t>
            </a:fld>
            <a:endParaRPr lang="de-D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757866"/>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0ADF5E-3BCB-D486-C8F4-A0F73F0F7A5B}"/>
              </a:ext>
            </a:extLst>
          </p:cNvPr>
          <p:cNvSpPr>
            <a:spLocks noGrp="1"/>
          </p:cNvSpPr>
          <p:nvPr>
            <p:ph type="ctrTitle"/>
          </p:nvPr>
        </p:nvSpPr>
        <p:spPr/>
        <p:txBody>
          <a:bodyPr/>
          <a:lstStyle/>
          <a:p>
            <a:r>
              <a:rPr lang="de-DE" dirty="0"/>
              <a:t>Revenue </a:t>
            </a:r>
            <a:r>
              <a:rPr lang="de-DE" dirty="0" err="1"/>
              <a:t>optimization</a:t>
            </a:r>
            <a:endParaRPr lang="de-DE" dirty="0"/>
          </a:p>
        </p:txBody>
      </p:sp>
      <p:sp>
        <p:nvSpPr>
          <p:cNvPr id="3" name="Untertitel 2">
            <a:extLst>
              <a:ext uri="{FF2B5EF4-FFF2-40B4-BE49-F238E27FC236}">
                <a16:creationId xmlns:a16="http://schemas.microsoft.com/office/drawing/2014/main" id="{1FD6D175-BF7B-D379-2BB2-07CD98470956}"/>
              </a:ext>
            </a:extLst>
          </p:cNvPr>
          <p:cNvSpPr>
            <a:spLocks noGrp="1"/>
          </p:cNvSpPr>
          <p:nvPr>
            <p:ph type="subTitle" idx="1"/>
          </p:nvPr>
        </p:nvSpPr>
        <p:spPr/>
        <p:txBody>
          <a:bodyPr>
            <a:normAutofit fontScale="92500" lnSpcReduction="10000"/>
          </a:bodyPr>
          <a:lstStyle/>
          <a:p>
            <a:r>
              <a:rPr lang="de-DE" sz="1800" dirty="0">
                <a:solidFill>
                  <a:schemeClr val="tx1"/>
                </a:solidFill>
              </a:rPr>
              <a:t>Final </a:t>
            </a:r>
            <a:r>
              <a:rPr lang="de-DE" sz="1800" dirty="0" err="1">
                <a:solidFill>
                  <a:schemeClr val="tx1"/>
                </a:solidFill>
              </a:rPr>
              <a:t>Presentation</a:t>
            </a:r>
            <a:endParaRPr lang="de-DE" sz="1800" dirty="0">
              <a:solidFill>
                <a:schemeClr val="tx1"/>
              </a:solidFill>
            </a:endParaRPr>
          </a:p>
          <a:p>
            <a:r>
              <a:rPr lang="de-DE" sz="1800" dirty="0">
                <a:solidFill>
                  <a:schemeClr val="tx1"/>
                </a:solidFill>
              </a:rPr>
              <a:t>DS405 </a:t>
            </a:r>
            <a:r>
              <a:rPr lang="de-DE" sz="1800" dirty="0" err="1">
                <a:solidFill>
                  <a:schemeClr val="tx1"/>
                </a:solidFill>
              </a:rPr>
              <a:t>Machine</a:t>
            </a:r>
            <a:r>
              <a:rPr lang="de-DE" sz="1800" dirty="0">
                <a:solidFill>
                  <a:schemeClr val="tx1"/>
                </a:solidFill>
              </a:rPr>
              <a:t> Learning </a:t>
            </a:r>
            <a:r>
              <a:rPr lang="de-DE" sz="1800" dirty="0" err="1">
                <a:solidFill>
                  <a:schemeClr val="tx1"/>
                </a:solidFill>
              </a:rPr>
              <a:t>Applicatios</a:t>
            </a:r>
            <a:r>
              <a:rPr lang="de-DE" sz="1800" dirty="0">
                <a:solidFill>
                  <a:schemeClr val="tx1"/>
                </a:solidFill>
              </a:rPr>
              <a:t> in </a:t>
            </a:r>
            <a:r>
              <a:rPr lang="de-DE" sz="1800" dirty="0" err="1">
                <a:solidFill>
                  <a:schemeClr val="tx1"/>
                </a:solidFill>
              </a:rPr>
              <a:t>business</a:t>
            </a:r>
            <a:r>
              <a:rPr lang="de-DE" sz="1800" dirty="0">
                <a:solidFill>
                  <a:schemeClr val="tx1"/>
                </a:solidFill>
              </a:rPr>
              <a:t> and </a:t>
            </a:r>
            <a:r>
              <a:rPr lang="de-DE" sz="1800" dirty="0" err="1">
                <a:solidFill>
                  <a:schemeClr val="tx1"/>
                </a:solidFill>
              </a:rPr>
              <a:t>economics</a:t>
            </a:r>
            <a:endParaRPr lang="de-DE" sz="1800" dirty="0">
              <a:solidFill>
                <a:schemeClr val="tx1"/>
              </a:solidFill>
            </a:endParaRPr>
          </a:p>
          <a:p>
            <a:r>
              <a:rPr lang="de-DE" sz="1800" dirty="0">
                <a:solidFill>
                  <a:schemeClr val="tx1"/>
                </a:solidFill>
              </a:rPr>
              <a:t>Alexander Unger, Franziska Nagel</a:t>
            </a:r>
          </a:p>
        </p:txBody>
      </p:sp>
    </p:spTree>
    <p:extLst>
      <p:ext uri="{BB962C8B-B14F-4D97-AF65-F5344CB8AC3E}">
        <p14:creationId xmlns:p14="http://schemas.microsoft.com/office/powerpoint/2010/main" val="3177469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BE48C64-5364-4060-8928-FC052E77C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14" name="Rectangle 13">
            <a:extLst>
              <a:ext uri="{FF2B5EF4-FFF2-40B4-BE49-F238E27FC236}">
                <a16:creationId xmlns:a16="http://schemas.microsoft.com/office/drawing/2014/main" id="{139F791B-8515-4F50-9D32-45DD7676C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cxnSp>
        <p:nvCxnSpPr>
          <p:cNvPr id="16" name="Straight Connector 15">
            <a:extLst>
              <a:ext uri="{FF2B5EF4-FFF2-40B4-BE49-F238E27FC236}">
                <a16:creationId xmlns:a16="http://schemas.microsoft.com/office/drawing/2014/main" id="{966A6F95-73C3-44EC-9D80-3131D2D868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448231F9-49B7-4F41-8E74-5317B1937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5FB68E6-360C-DBEB-54A1-1BE72F7296C6}"/>
              </a:ext>
            </a:extLst>
          </p:cNvPr>
          <p:cNvSpPr>
            <a:spLocks noGrp="1"/>
          </p:cNvSpPr>
          <p:nvPr>
            <p:ph type="title"/>
          </p:nvPr>
        </p:nvSpPr>
        <p:spPr>
          <a:xfrm>
            <a:off x="5289754" y="639097"/>
            <a:ext cx="6253317" cy="3686015"/>
          </a:xfrm>
        </p:spPr>
        <p:txBody>
          <a:bodyPr vert="horz" lIns="91440" tIns="45720" rIns="91440" bIns="45720" rtlCol="0" anchor="t">
            <a:normAutofit/>
          </a:bodyPr>
          <a:lstStyle/>
          <a:p>
            <a:r>
              <a:rPr lang="en-US" sz="8000" dirty="0">
                <a:solidFill>
                  <a:schemeClr val="tx1">
                    <a:lumMod val="85000"/>
                    <a:lumOff val="15000"/>
                  </a:schemeClr>
                </a:solidFill>
              </a:rPr>
              <a:t>First, we need to understand our customers</a:t>
            </a:r>
          </a:p>
        </p:txBody>
      </p:sp>
      <p:cxnSp>
        <p:nvCxnSpPr>
          <p:cNvPr id="20" name="Straight Connector 19">
            <a:extLst>
              <a:ext uri="{FF2B5EF4-FFF2-40B4-BE49-F238E27FC236}">
                <a16:creationId xmlns:a16="http://schemas.microsoft.com/office/drawing/2014/main" id="{64BAD00C-9DF3-4EDE-8CDF-A9D88C0D2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0F9D4BA-D919-4666-B40F-2E7DBE4D83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24" name="Rectangle 23">
            <a:extLst>
              <a:ext uri="{FF2B5EF4-FFF2-40B4-BE49-F238E27FC236}">
                <a16:creationId xmlns:a16="http://schemas.microsoft.com/office/drawing/2014/main" id="{E48A398B-A55F-4121-BD29-884874038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4" name="Datumsplatzhalter 3">
            <a:extLst>
              <a:ext uri="{FF2B5EF4-FFF2-40B4-BE49-F238E27FC236}">
                <a16:creationId xmlns:a16="http://schemas.microsoft.com/office/drawing/2014/main" id="{1878C178-0EB3-FAB1-E798-C81493BD46FE}"/>
              </a:ext>
            </a:extLst>
          </p:cNvPr>
          <p:cNvSpPr>
            <a:spLocks noGrp="1"/>
          </p:cNvSpPr>
          <p:nvPr>
            <p:ph type="dt" sz="half" idx="10"/>
          </p:nvPr>
        </p:nvSpPr>
        <p:spPr>
          <a:xfrm>
            <a:off x="1097280" y="6459785"/>
            <a:ext cx="2472271" cy="365125"/>
          </a:xfrm>
        </p:spPr>
        <p:txBody>
          <a:bodyPr vert="horz" lIns="91440" tIns="45720" rIns="91440" bIns="45720" rtlCol="0" anchor="ctr">
            <a:normAutofit/>
          </a:bodyPr>
          <a:lstStyle/>
          <a:p>
            <a:pPr defTabSz="914400">
              <a:spcAft>
                <a:spcPts val="600"/>
              </a:spcAft>
            </a:pPr>
            <a:r>
              <a:rPr lang="en-US"/>
              <a:t>1/29/2026</a:t>
            </a:r>
            <a:endParaRPr lang="en-US" dirty="0"/>
          </a:p>
        </p:txBody>
      </p:sp>
      <p:sp>
        <p:nvSpPr>
          <p:cNvPr id="5" name="Fußzeilenplatzhalter 4">
            <a:extLst>
              <a:ext uri="{FF2B5EF4-FFF2-40B4-BE49-F238E27FC236}">
                <a16:creationId xmlns:a16="http://schemas.microsoft.com/office/drawing/2014/main" id="{C37A7480-D220-8AF5-BE63-4D76EE021DF8}"/>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defTabSz="914400"/>
            <a:endParaRPr lang="en-US" sz="900" kern="1200" cap="all" baseline="0">
              <a:solidFill>
                <a:srgbClr val="FFFFFF"/>
              </a:solidFill>
              <a:latin typeface="+mn-lt"/>
              <a:ea typeface="+mn-ea"/>
              <a:cs typeface="+mn-cs"/>
            </a:endParaRPr>
          </a:p>
        </p:txBody>
      </p:sp>
      <p:sp>
        <p:nvSpPr>
          <p:cNvPr id="6" name="Foliennummernplatzhalter 5">
            <a:extLst>
              <a:ext uri="{FF2B5EF4-FFF2-40B4-BE49-F238E27FC236}">
                <a16:creationId xmlns:a16="http://schemas.microsoft.com/office/drawing/2014/main" id="{0F8B3DA0-FE0C-B1CA-C323-8E9615640E9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914400">
              <a:spcAft>
                <a:spcPts val="600"/>
              </a:spcAft>
            </a:pPr>
            <a:fld id="{9832B0F4-0138-426C-A884-6EC3C10E0B5B}" type="slidenum">
              <a:rPr lang="en-US" smtClean="0"/>
              <a:pPr defTabSz="914400">
                <a:spcAft>
                  <a:spcPts val="600"/>
                </a:spcAft>
              </a:pPr>
              <a:t>2</a:t>
            </a:fld>
            <a:endParaRPr lang="en-US"/>
          </a:p>
        </p:txBody>
      </p:sp>
      <p:graphicFrame>
        <p:nvGraphicFramePr>
          <p:cNvPr id="15" name="Diagramm 14">
            <a:extLst>
              <a:ext uri="{FF2B5EF4-FFF2-40B4-BE49-F238E27FC236}">
                <a16:creationId xmlns:a16="http://schemas.microsoft.com/office/drawing/2014/main" id="{C29CB544-1898-8B94-3EE7-887092193AD2}"/>
              </a:ext>
            </a:extLst>
          </p:cNvPr>
          <p:cNvGraphicFramePr/>
          <p:nvPr>
            <p:extLst>
              <p:ext uri="{D42A27DB-BD31-4B8C-83A1-F6EECF244321}">
                <p14:modId xmlns:p14="http://schemas.microsoft.com/office/powerpoint/2010/main" val="1605803068"/>
              </p:ext>
            </p:extLst>
          </p:nvPr>
        </p:nvGraphicFramePr>
        <p:xfrm>
          <a:off x="529699" y="523684"/>
          <a:ext cx="4230356" cy="54300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02525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BFA58-A7C7-7657-53A2-CFD484F8B8C2}"/>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9A5C4CD5-4A41-F8B4-E174-33945002DDC1}"/>
              </a:ext>
            </a:extLst>
          </p:cNvPr>
          <p:cNvSpPr>
            <a:spLocks noGrp="1"/>
          </p:cNvSpPr>
          <p:nvPr>
            <p:ph type="dt" sz="half" idx="10"/>
          </p:nvPr>
        </p:nvSpPr>
        <p:spPr/>
        <p:txBody>
          <a:bodyPr vert="horz" lIns="91440" tIns="45720" rIns="91440" bIns="45720" rtlCol="0" anchor="ctr">
            <a:normAutofit/>
          </a:bodyPr>
          <a:lstStyle/>
          <a:p>
            <a:pPr defTabSz="914400">
              <a:spcAft>
                <a:spcPts val="600"/>
              </a:spcAft>
            </a:pPr>
            <a:r>
              <a:rPr lang="en-US"/>
              <a:t>1/29/2026</a:t>
            </a:r>
          </a:p>
        </p:txBody>
      </p:sp>
      <p:sp>
        <p:nvSpPr>
          <p:cNvPr id="5" name="Fußzeilenplatzhalter 4">
            <a:extLst>
              <a:ext uri="{FF2B5EF4-FFF2-40B4-BE49-F238E27FC236}">
                <a16:creationId xmlns:a16="http://schemas.microsoft.com/office/drawing/2014/main" id="{85057663-0887-27C1-95AA-F73BB7F888C3}"/>
              </a:ext>
            </a:extLst>
          </p:cNvPr>
          <p:cNvSpPr>
            <a:spLocks noGrp="1"/>
          </p:cNvSpPr>
          <p:nvPr>
            <p:ph type="ftr" sz="quarter" idx="11"/>
          </p:nvPr>
        </p:nvSpPr>
        <p:spPr/>
        <p:txBody>
          <a:bodyPr vert="horz" lIns="91440" tIns="45720" rIns="91440" bIns="45720" rtlCol="0" anchor="ctr">
            <a:normAutofit/>
          </a:bodyPr>
          <a:lstStyle/>
          <a:p>
            <a:pPr defTabSz="914400"/>
            <a:endParaRPr lang="en-US" sz="900" kern="1200" cap="all" baseline="0">
              <a:solidFill>
                <a:srgbClr val="FFFFFF"/>
              </a:solidFill>
              <a:latin typeface="+mn-lt"/>
              <a:ea typeface="+mn-ea"/>
              <a:cs typeface="+mn-cs"/>
            </a:endParaRPr>
          </a:p>
        </p:txBody>
      </p:sp>
      <p:sp>
        <p:nvSpPr>
          <p:cNvPr id="6" name="Foliennummernplatzhalter 5">
            <a:extLst>
              <a:ext uri="{FF2B5EF4-FFF2-40B4-BE49-F238E27FC236}">
                <a16:creationId xmlns:a16="http://schemas.microsoft.com/office/drawing/2014/main" id="{B22FDB33-9FD7-26A8-2B25-9CD1A4E02130}"/>
              </a:ext>
            </a:extLst>
          </p:cNvPr>
          <p:cNvSpPr>
            <a:spLocks noGrp="1"/>
          </p:cNvSpPr>
          <p:nvPr>
            <p:ph type="sldNum" sz="quarter" idx="12"/>
          </p:nvPr>
        </p:nvSpPr>
        <p:spPr/>
        <p:txBody>
          <a:bodyPr vert="horz" lIns="91440" tIns="45720" rIns="91440" bIns="45720" rtlCol="0" anchor="ctr">
            <a:normAutofit/>
          </a:bodyPr>
          <a:lstStyle/>
          <a:p>
            <a:pPr defTabSz="914400">
              <a:spcAft>
                <a:spcPts val="600"/>
              </a:spcAft>
            </a:pPr>
            <a:fld id="{9832B0F4-0138-426C-A884-6EC3C10E0B5B}" type="slidenum">
              <a:rPr lang="en-US" smtClean="0"/>
              <a:pPr defTabSz="914400">
                <a:spcAft>
                  <a:spcPts val="600"/>
                </a:spcAft>
              </a:pPr>
              <a:t>3</a:t>
            </a:fld>
            <a:endParaRPr lang="en-US"/>
          </a:p>
        </p:txBody>
      </p:sp>
      <p:sp>
        <p:nvSpPr>
          <p:cNvPr id="11" name="Rechteck: abgerundete Ecken 10">
            <a:extLst>
              <a:ext uri="{FF2B5EF4-FFF2-40B4-BE49-F238E27FC236}">
                <a16:creationId xmlns:a16="http://schemas.microsoft.com/office/drawing/2014/main" id="{6777C969-3223-6CBE-8BF1-3DA204A98362}"/>
              </a:ext>
            </a:extLst>
          </p:cNvPr>
          <p:cNvSpPr/>
          <p:nvPr/>
        </p:nvSpPr>
        <p:spPr>
          <a:xfrm>
            <a:off x="5558743" y="2963119"/>
            <a:ext cx="5653740" cy="717630"/>
          </a:xfrm>
          <a:prstGeom prst="roundRect">
            <a:avLst>
              <a:gd name="adj" fmla="val 50000"/>
            </a:avLst>
          </a:prstGeom>
          <a:solidFill>
            <a:srgbClr val="240E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t>Sending</a:t>
            </a:r>
            <a:r>
              <a:rPr lang="de-DE" dirty="0"/>
              <a:t> </a:t>
            </a:r>
            <a:r>
              <a:rPr lang="de-DE" dirty="0" err="1"/>
              <a:t>vouchers</a:t>
            </a:r>
            <a:r>
              <a:rPr lang="de-DE" dirty="0"/>
              <a:t> out </a:t>
            </a:r>
            <a:r>
              <a:rPr lang="de-DE" dirty="0" err="1"/>
              <a:t>to</a:t>
            </a:r>
            <a:r>
              <a:rPr lang="de-DE" dirty="0"/>
              <a:t> </a:t>
            </a:r>
            <a:r>
              <a:rPr lang="de-DE" dirty="0" err="1"/>
              <a:t>everyone</a:t>
            </a:r>
            <a:endParaRPr lang="de-DE" dirty="0"/>
          </a:p>
        </p:txBody>
      </p:sp>
      <p:sp>
        <p:nvSpPr>
          <p:cNvPr id="13" name="Rechteck: abgerundete Ecken 12">
            <a:extLst>
              <a:ext uri="{FF2B5EF4-FFF2-40B4-BE49-F238E27FC236}">
                <a16:creationId xmlns:a16="http://schemas.microsoft.com/office/drawing/2014/main" id="{0477A10A-D13D-CC25-7ADA-A92A543635FB}"/>
              </a:ext>
            </a:extLst>
          </p:cNvPr>
          <p:cNvSpPr/>
          <p:nvPr/>
        </p:nvSpPr>
        <p:spPr>
          <a:xfrm>
            <a:off x="5558743" y="3930161"/>
            <a:ext cx="5653740" cy="717630"/>
          </a:xfrm>
          <a:prstGeom prst="roundRect">
            <a:avLst>
              <a:gd name="adj" fmla="val 50000"/>
            </a:avLst>
          </a:prstGeom>
          <a:solidFill>
            <a:srgbClr val="240E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Not send </a:t>
            </a:r>
            <a:r>
              <a:rPr lang="de-DE" dirty="0" err="1"/>
              <a:t>vouchers</a:t>
            </a:r>
            <a:r>
              <a:rPr lang="de-DE" dirty="0"/>
              <a:t> out at all</a:t>
            </a:r>
          </a:p>
        </p:txBody>
      </p:sp>
      <p:sp>
        <p:nvSpPr>
          <p:cNvPr id="15" name="Rechteck: abgerundete Ecken 14">
            <a:extLst>
              <a:ext uri="{FF2B5EF4-FFF2-40B4-BE49-F238E27FC236}">
                <a16:creationId xmlns:a16="http://schemas.microsoft.com/office/drawing/2014/main" id="{71841FB4-AB90-01C1-F3BC-DF43DEEA68C6}"/>
              </a:ext>
            </a:extLst>
          </p:cNvPr>
          <p:cNvSpPr/>
          <p:nvPr/>
        </p:nvSpPr>
        <p:spPr>
          <a:xfrm>
            <a:off x="5558743" y="4897203"/>
            <a:ext cx="5653740" cy="717630"/>
          </a:xfrm>
          <a:prstGeom prst="roundRect">
            <a:avLst>
              <a:gd name="adj" fmla="val 500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t>Either</a:t>
            </a:r>
            <a:r>
              <a:rPr lang="de-DE" dirty="0"/>
              <a:t> </a:t>
            </a:r>
            <a:r>
              <a:rPr lang="de-DE" dirty="0" err="1"/>
              <a:t>we</a:t>
            </a:r>
            <a:r>
              <a:rPr lang="de-DE" dirty="0"/>
              <a:t> </a:t>
            </a:r>
            <a:r>
              <a:rPr lang="de-DE" dirty="0" err="1"/>
              <a:t>spend</a:t>
            </a:r>
            <a:r>
              <a:rPr lang="de-DE" dirty="0"/>
              <a:t> </a:t>
            </a:r>
            <a:r>
              <a:rPr lang="de-DE" dirty="0" err="1"/>
              <a:t>to</a:t>
            </a:r>
            <a:r>
              <a:rPr lang="de-DE" dirty="0"/>
              <a:t> </a:t>
            </a:r>
            <a:r>
              <a:rPr lang="de-DE" dirty="0" err="1"/>
              <a:t>much</a:t>
            </a:r>
            <a:r>
              <a:rPr lang="de-DE" dirty="0"/>
              <a:t> </a:t>
            </a:r>
            <a:r>
              <a:rPr lang="de-DE" dirty="0" err="1"/>
              <a:t>money</a:t>
            </a:r>
            <a:r>
              <a:rPr lang="de-DE" dirty="0"/>
              <a:t> </a:t>
            </a:r>
            <a:r>
              <a:rPr lang="de-DE" dirty="0" err="1"/>
              <a:t>our</a:t>
            </a:r>
            <a:r>
              <a:rPr lang="de-DE" dirty="0"/>
              <a:t> </a:t>
            </a:r>
            <a:r>
              <a:rPr lang="de-DE" dirty="0" err="1"/>
              <a:t>loose</a:t>
            </a:r>
            <a:r>
              <a:rPr lang="de-DE" dirty="0"/>
              <a:t> potential </a:t>
            </a:r>
            <a:r>
              <a:rPr lang="de-DE" dirty="0" err="1"/>
              <a:t>customers</a:t>
            </a:r>
            <a:endParaRPr lang="de-DE" dirty="0"/>
          </a:p>
        </p:txBody>
      </p:sp>
      <p:sp>
        <p:nvSpPr>
          <p:cNvPr id="19" name="Textfeld 18">
            <a:extLst>
              <a:ext uri="{FF2B5EF4-FFF2-40B4-BE49-F238E27FC236}">
                <a16:creationId xmlns:a16="http://schemas.microsoft.com/office/drawing/2014/main" id="{52586426-32A6-905F-D6CC-FEE159B03AD0}"/>
              </a:ext>
            </a:extLst>
          </p:cNvPr>
          <p:cNvSpPr txBox="1"/>
          <p:nvPr/>
        </p:nvSpPr>
        <p:spPr>
          <a:xfrm>
            <a:off x="5558743" y="620721"/>
            <a:ext cx="6094070" cy="2087756"/>
          </a:xfrm>
          <a:prstGeom prst="rect">
            <a:avLst/>
          </a:prstGeom>
        </p:spPr>
        <p:txBody>
          <a:bodyPr vert="horz" lIns="91440" tIns="45720" rIns="91440" bIns="45720" rtlCol="0" anchor="ctr">
            <a:normAutofit fontScale="92500" lnSpcReduction="20000"/>
          </a:bodyPr>
          <a:lstStyle>
            <a:lvl1pPr defTabSz="914400">
              <a:lnSpc>
                <a:spcPct val="85000"/>
              </a:lnSpc>
              <a:spcBef>
                <a:spcPct val="0"/>
              </a:spcBef>
              <a:buNone/>
              <a:defRPr sz="8000" spc="-50" baseline="0">
                <a:solidFill>
                  <a:schemeClr val="tx1">
                    <a:lumMod val="85000"/>
                    <a:lumOff val="15000"/>
                  </a:schemeClr>
                </a:solidFill>
                <a:latin typeface="+mj-lt"/>
                <a:ea typeface="+mj-ea"/>
                <a:cs typeface="+mj-cs"/>
              </a:defRPr>
            </a:lvl1pPr>
          </a:lstStyle>
          <a:p>
            <a:r>
              <a:rPr lang="en-US" sz="4800" dirty="0"/>
              <a:t>Our initial situation is a decision problem with asymmetric costs based on a binary outcome</a:t>
            </a:r>
            <a:endParaRPr lang="de-DE" sz="4800" dirty="0"/>
          </a:p>
        </p:txBody>
      </p:sp>
      <p:graphicFrame>
        <p:nvGraphicFramePr>
          <p:cNvPr id="2" name="Diagramm 1">
            <a:extLst>
              <a:ext uri="{FF2B5EF4-FFF2-40B4-BE49-F238E27FC236}">
                <a16:creationId xmlns:a16="http://schemas.microsoft.com/office/drawing/2014/main" id="{B8A9AA36-54AE-C963-FDA5-9872018BEDFF}"/>
              </a:ext>
            </a:extLst>
          </p:cNvPr>
          <p:cNvGraphicFramePr/>
          <p:nvPr>
            <p:extLst>
              <p:ext uri="{D42A27DB-BD31-4B8C-83A1-F6EECF244321}">
                <p14:modId xmlns:p14="http://schemas.microsoft.com/office/powerpoint/2010/main" val="1806053945"/>
              </p:ext>
            </p:extLst>
          </p:nvPr>
        </p:nvGraphicFramePr>
        <p:xfrm>
          <a:off x="529699" y="523684"/>
          <a:ext cx="4230356" cy="54300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21653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13B68-DA8C-193F-896B-4E2EBC6AAB1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080B7DC-647A-6ABA-C527-D8222349C89E}"/>
              </a:ext>
            </a:extLst>
          </p:cNvPr>
          <p:cNvSpPr>
            <a:spLocks noGrp="1"/>
          </p:cNvSpPr>
          <p:nvPr>
            <p:ph type="title"/>
          </p:nvPr>
        </p:nvSpPr>
        <p:spPr/>
        <p:txBody>
          <a:bodyPr/>
          <a:lstStyle/>
          <a:p>
            <a:r>
              <a:rPr lang="de-DE" dirty="0"/>
              <a:t>How do </a:t>
            </a:r>
            <a:r>
              <a:rPr lang="de-DE" dirty="0" err="1"/>
              <a:t>we</a:t>
            </a:r>
            <a:r>
              <a:rPr lang="de-DE" dirty="0"/>
              <a:t> </a:t>
            </a:r>
            <a:r>
              <a:rPr lang="de-DE" dirty="0" err="1"/>
              <a:t>decide</a:t>
            </a:r>
            <a:r>
              <a:rPr lang="de-DE" dirty="0"/>
              <a:t> </a:t>
            </a:r>
            <a:r>
              <a:rPr lang="de-DE" dirty="0" err="1"/>
              <a:t>who</a:t>
            </a:r>
            <a:r>
              <a:rPr lang="de-DE" dirty="0"/>
              <a:t> </a:t>
            </a:r>
            <a:r>
              <a:rPr lang="de-DE" dirty="0" err="1"/>
              <a:t>gets</a:t>
            </a:r>
            <a:r>
              <a:rPr lang="de-DE" dirty="0"/>
              <a:t> a </a:t>
            </a:r>
            <a:r>
              <a:rPr lang="de-DE" dirty="0" err="1"/>
              <a:t>voucher</a:t>
            </a:r>
            <a:r>
              <a:rPr lang="de-DE" dirty="0"/>
              <a:t>?</a:t>
            </a:r>
          </a:p>
        </p:txBody>
      </p:sp>
      <p:sp>
        <p:nvSpPr>
          <p:cNvPr id="10" name="Datumsplatzhalter 9">
            <a:extLst>
              <a:ext uri="{FF2B5EF4-FFF2-40B4-BE49-F238E27FC236}">
                <a16:creationId xmlns:a16="http://schemas.microsoft.com/office/drawing/2014/main" id="{0A826510-812C-1E3C-4F1F-7430883E88D4}"/>
              </a:ext>
            </a:extLst>
          </p:cNvPr>
          <p:cNvSpPr>
            <a:spLocks noGrp="1"/>
          </p:cNvSpPr>
          <p:nvPr>
            <p:ph type="dt" sz="half" idx="10"/>
          </p:nvPr>
        </p:nvSpPr>
        <p:spPr/>
        <p:txBody>
          <a:bodyPr/>
          <a:lstStyle/>
          <a:p>
            <a:r>
              <a:rPr lang="en-US"/>
              <a:t>1/29/2026</a:t>
            </a:r>
            <a:endParaRPr lang="de-DE"/>
          </a:p>
        </p:txBody>
      </p:sp>
      <p:sp>
        <p:nvSpPr>
          <p:cNvPr id="11" name="Fußzeilenplatzhalter 10">
            <a:extLst>
              <a:ext uri="{FF2B5EF4-FFF2-40B4-BE49-F238E27FC236}">
                <a16:creationId xmlns:a16="http://schemas.microsoft.com/office/drawing/2014/main" id="{D77D55C9-7664-A6C2-37FF-89BABD060F03}"/>
              </a:ext>
            </a:extLst>
          </p:cNvPr>
          <p:cNvSpPr>
            <a:spLocks noGrp="1"/>
          </p:cNvSpPr>
          <p:nvPr>
            <p:ph type="ftr" sz="quarter" idx="11"/>
          </p:nvPr>
        </p:nvSpPr>
        <p:spPr/>
        <p:txBody>
          <a:bodyPr/>
          <a:lstStyle/>
          <a:p>
            <a:endParaRPr lang="de-DE"/>
          </a:p>
        </p:txBody>
      </p:sp>
      <p:sp>
        <p:nvSpPr>
          <p:cNvPr id="12" name="Foliennummernplatzhalter 11">
            <a:extLst>
              <a:ext uri="{FF2B5EF4-FFF2-40B4-BE49-F238E27FC236}">
                <a16:creationId xmlns:a16="http://schemas.microsoft.com/office/drawing/2014/main" id="{364BAF3C-BCD5-36C1-9B84-AA0E360BD90C}"/>
              </a:ext>
            </a:extLst>
          </p:cNvPr>
          <p:cNvSpPr>
            <a:spLocks noGrp="1"/>
          </p:cNvSpPr>
          <p:nvPr>
            <p:ph type="sldNum" sz="quarter" idx="12"/>
          </p:nvPr>
        </p:nvSpPr>
        <p:spPr/>
        <p:txBody>
          <a:bodyPr/>
          <a:lstStyle/>
          <a:p>
            <a:fld id="{9832B0F4-0138-426C-A884-6EC3C10E0B5B}" type="slidenum">
              <a:rPr lang="de-DE" smtClean="0"/>
              <a:t>4</a:t>
            </a:fld>
            <a:endParaRPr lang="de-DE"/>
          </a:p>
        </p:txBody>
      </p:sp>
      <p:graphicFrame>
        <p:nvGraphicFramePr>
          <p:cNvPr id="4" name="Tabelle 3">
            <a:extLst>
              <a:ext uri="{FF2B5EF4-FFF2-40B4-BE49-F238E27FC236}">
                <a16:creationId xmlns:a16="http://schemas.microsoft.com/office/drawing/2014/main" id="{547B63B4-D296-C9C6-ACE2-9B607E47CFAF}"/>
              </a:ext>
            </a:extLst>
          </p:cNvPr>
          <p:cNvGraphicFramePr>
            <a:graphicFrameLocks noGrp="1"/>
          </p:cNvGraphicFramePr>
          <p:nvPr>
            <p:extLst>
              <p:ext uri="{D42A27DB-BD31-4B8C-83A1-F6EECF244321}">
                <p14:modId xmlns:p14="http://schemas.microsoft.com/office/powerpoint/2010/main" val="2007431065"/>
              </p:ext>
            </p:extLst>
          </p:nvPr>
        </p:nvGraphicFramePr>
        <p:xfrm>
          <a:off x="1188721" y="1950719"/>
          <a:ext cx="9966960" cy="2803455"/>
        </p:xfrm>
        <a:graphic>
          <a:graphicData uri="http://schemas.openxmlformats.org/drawingml/2006/table">
            <a:tbl>
              <a:tblPr firstRow="1" bandRow="1">
                <a:tableStyleId>{5C22544A-7EE6-4342-B048-85BDC9FD1C3A}</a:tableStyleId>
              </a:tblPr>
              <a:tblGrid>
                <a:gridCol w="2702559">
                  <a:extLst>
                    <a:ext uri="{9D8B030D-6E8A-4147-A177-3AD203B41FA5}">
                      <a16:colId xmlns:a16="http://schemas.microsoft.com/office/drawing/2014/main" val="2638978198"/>
                    </a:ext>
                  </a:extLst>
                </a:gridCol>
                <a:gridCol w="3942081">
                  <a:extLst>
                    <a:ext uri="{9D8B030D-6E8A-4147-A177-3AD203B41FA5}">
                      <a16:colId xmlns:a16="http://schemas.microsoft.com/office/drawing/2014/main" val="3761285289"/>
                    </a:ext>
                  </a:extLst>
                </a:gridCol>
                <a:gridCol w="3322320">
                  <a:extLst>
                    <a:ext uri="{9D8B030D-6E8A-4147-A177-3AD203B41FA5}">
                      <a16:colId xmlns:a16="http://schemas.microsoft.com/office/drawing/2014/main" val="2563611219"/>
                    </a:ext>
                  </a:extLst>
                </a:gridCol>
              </a:tblGrid>
              <a:tr h="608124">
                <a:tc>
                  <a:txBody>
                    <a:bodyPr/>
                    <a:lstStyle/>
                    <a:p>
                      <a:pPr marL="0" algn="l" defTabSz="914400" rtl="0" eaLnBrk="1" latinLnBrk="0" hangingPunct="1"/>
                      <a:r>
                        <a:rPr lang="de-DE" sz="2400" b="1" kern="1200" dirty="0" err="1">
                          <a:solidFill>
                            <a:schemeClr val="lt1"/>
                          </a:solidFill>
                          <a:latin typeface="+mn-lt"/>
                          <a:ea typeface="+mn-ea"/>
                          <a:cs typeface="+mn-cs"/>
                        </a:rPr>
                        <a:t>Decison</a:t>
                      </a:r>
                      <a:endParaRPr lang="de-DE" sz="2400" b="1" kern="1200" dirty="0">
                        <a:solidFill>
                          <a:schemeClr val="lt1"/>
                        </a:solidFill>
                        <a:latin typeface="+mn-lt"/>
                        <a:ea typeface="+mn-ea"/>
                        <a:cs typeface="+mn-cs"/>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sz="2400" b="1" dirty="0"/>
                        <a:t>True </a:t>
                      </a:r>
                      <a:r>
                        <a:rPr lang="de-DE" sz="2400" b="1" dirty="0" err="1"/>
                        <a:t>outcome</a:t>
                      </a:r>
                      <a:endParaRPr lang="de-DE"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sz="2400" b="1" dirty="0"/>
                        <a:t>Revenue</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0346112"/>
                  </a:ext>
                </a:extLst>
              </a:tr>
              <a:tr h="731777">
                <a:tc>
                  <a:txBody>
                    <a:bodyPr/>
                    <a:lstStyle/>
                    <a:p>
                      <a:r>
                        <a:rPr lang="de-DE" sz="2000" b="0" dirty="0">
                          <a:solidFill>
                            <a:schemeClr val="tx1"/>
                          </a:solidFill>
                        </a:rPr>
                        <a:t>Send </a:t>
                      </a:r>
                      <a:r>
                        <a:rPr lang="de-DE" sz="2000" b="0" dirty="0" err="1">
                          <a:solidFill>
                            <a:schemeClr val="tx1"/>
                          </a:solidFill>
                        </a:rPr>
                        <a:t>voucher</a:t>
                      </a:r>
                      <a:endParaRPr lang="de-DE" sz="2000" b="0"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93A299"/>
                    </a:solidFill>
                  </a:tcPr>
                </a:tc>
                <a:tc>
                  <a:txBody>
                    <a:bodyPr/>
                    <a:lstStyle/>
                    <a:p>
                      <a:pPr algn="ctr"/>
                      <a:r>
                        <a:rPr lang="de-DE" sz="2000" dirty="0" err="1"/>
                        <a:t>No</a:t>
                      </a:r>
                      <a:r>
                        <a:rPr lang="de-DE" sz="2000" dirty="0"/>
                        <a:t> </a:t>
                      </a:r>
                      <a:r>
                        <a:rPr lang="de-DE" sz="2000" dirty="0" err="1"/>
                        <a:t>reorder</a:t>
                      </a:r>
                      <a:endParaRPr lang="de-DE"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de-DE" sz="2000" dirty="0"/>
                        <a:t>+ 1.25 €</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0535"/>
                  </a:ext>
                </a:extLst>
              </a:tr>
              <a:tr h="731777">
                <a:tc>
                  <a:txBody>
                    <a:bodyPr/>
                    <a:lstStyle/>
                    <a:p>
                      <a:r>
                        <a:rPr lang="de-DE" sz="2000" b="0" dirty="0">
                          <a:solidFill>
                            <a:schemeClr val="tx1"/>
                          </a:solidFill>
                        </a:rPr>
                        <a:t>Send </a:t>
                      </a:r>
                      <a:r>
                        <a:rPr lang="de-DE" sz="2000" b="0" dirty="0" err="1">
                          <a:solidFill>
                            <a:schemeClr val="tx1"/>
                          </a:solidFill>
                        </a:rPr>
                        <a:t>voucher</a:t>
                      </a:r>
                      <a:endParaRPr lang="de-DE" sz="2000" b="0"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3A299"/>
                    </a:solidFill>
                  </a:tcPr>
                </a:tc>
                <a:tc>
                  <a:txBody>
                    <a:bodyPr/>
                    <a:lstStyle/>
                    <a:p>
                      <a:pPr algn="ctr"/>
                      <a:r>
                        <a:rPr lang="de-DE" sz="2000" dirty="0" err="1"/>
                        <a:t>Reorder</a:t>
                      </a:r>
                      <a:endParaRPr lang="de-DE"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de-DE" sz="2000" dirty="0"/>
                        <a:t>- 5 €</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35163683"/>
                  </a:ext>
                </a:extLst>
              </a:tr>
              <a:tr h="731777">
                <a:tc>
                  <a:txBody>
                    <a:bodyPr/>
                    <a:lstStyle/>
                    <a:p>
                      <a:r>
                        <a:rPr lang="de-DE" sz="2000" b="0" dirty="0" err="1">
                          <a:solidFill>
                            <a:schemeClr val="tx1"/>
                          </a:solidFill>
                        </a:rPr>
                        <a:t>No</a:t>
                      </a:r>
                      <a:r>
                        <a:rPr lang="de-DE" sz="2000" b="0" dirty="0">
                          <a:solidFill>
                            <a:schemeClr val="tx1"/>
                          </a:solidFill>
                        </a:rPr>
                        <a:t> </a:t>
                      </a:r>
                      <a:r>
                        <a:rPr lang="de-DE" sz="2000" b="0" dirty="0" err="1">
                          <a:solidFill>
                            <a:schemeClr val="tx1"/>
                          </a:solidFill>
                        </a:rPr>
                        <a:t>voucher</a:t>
                      </a:r>
                      <a:endParaRPr lang="de-DE" sz="2000" b="0"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3A299"/>
                    </a:solidFill>
                  </a:tcPr>
                </a:tc>
                <a:tc>
                  <a:txBody>
                    <a:bodyPr/>
                    <a:lstStyle/>
                    <a:p>
                      <a:pPr algn="ctr"/>
                      <a:r>
                        <a:rPr lang="de-DE" sz="2000" dirty="0"/>
                        <a:t>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de-DE" sz="2000" dirty="0"/>
                        <a:t>0 €</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0145990"/>
                  </a:ext>
                </a:extLst>
              </a:tr>
            </a:tbl>
          </a:graphicData>
        </a:graphic>
      </p:graphicFrame>
      <p:sp>
        <p:nvSpPr>
          <p:cNvPr id="7" name="Pfeil: Chevron 6">
            <a:extLst>
              <a:ext uri="{FF2B5EF4-FFF2-40B4-BE49-F238E27FC236}">
                <a16:creationId xmlns:a16="http://schemas.microsoft.com/office/drawing/2014/main" id="{3802A6BA-11F6-A53D-678D-C82877446BF5}"/>
              </a:ext>
            </a:extLst>
          </p:cNvPr>
          <p:cNvSpPr/>
          <p:nvPr/>
        </p:nvSpPr>
        <p:spPr>
          <a:xfrm>
            <a:off x="1188721" y="5225143"/>
            <a:ext cx="609934" cy="763675"/>
          </a:xfrm>
          <a:prstGeom prst="chevron">
            <a:avLst/>
          </a:prstGeom>
          <a:solidFill>
            <a:srgbClr val="3F2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3" name="Pfeil: Chevron 12">
            <a:extLst>
              <a:ext uri="{FF2B5EF4-FFF2-40B4-BE49-F238E27FC236}">
                <a16:creationId xmlns:a16="http://schemas.microsoft.com/office/drawing/2014/main" id="{59A384FC-1729-464F-D8E9-57152A3E8128}"/>
              </a:ext>
            </a:extLst>
          </p:cNvPr>
          <p:cNvSpPr/>
          <p:nvPr/>
        </p:nvSpPr>
        <p:spPr>
          <a:xfrm>
            <a:off x="1270678" y="5225142"/>
            <a:ext cx="609934" cy="763675"/>
          </a:xfrm>
          <a:prstGeom prst="chevron">
            <a:avLst/>
          </a:prstGeom>
          <a:solidFill>
            <a:srgbClr val="93A2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Textfeld 13">
            <a:extLst>
              <a:ext uri="{FF2B5EF4-FFF2-40B4-BE49-F238E27FC236}">
                <a16:creationId xmlns:a16="http://schemas.microsoft.com/office/drawing/2014/main" id="{72F13691-C8AC-FB30-2097-3B5030751EB4}"/>
              </a:ext>
            </a:extLst>
          </p:cNvPr>
          <p:cNvSpPr txBox="1"/>
          <p:nvPr/>
        </p:nvSpPr>
        <p:spPr>
          <a:xfrm>
            <a:off x="1880612" y="5225142"/>
            <a:ext cx="8844538" cy="763675"/>
          </a:xfrm>
          <a:prstGeom prst="rect">
            <a:avLst/>
          </a:prstGeom>
          <a:noFill/>
        </p:spPr>
        <p:txBody>
          <a:bodyPr wrap="square" rtlCol="0" anchor="ctr">
            <a:normAutofit lnSpcReduction="10000"/>
          </a:bodyPr>
          <a:lstStyle/>
          <a:p>
            <a:r>
              <a:rPr lang="en-US" sz="2400" dirty="0"/>
              <a:t>Voucher decisions are made using predicted reorder probabilities and their expected revenue impact</a:t>
            </a:r>
          </a:p>
        </p:txBody>
      </p:sp>
    </p:spTree>
    <p:extLst>
      <p:ext uri="{BB962C8B-B14F-4D97-AF65-F5344CB8AC3E}">
        <p14:creationId xmlns:p14="http://schemas.microsoft.com/office/powerpoint/2010/main" val="1881955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B8114F-D9E1-C95F-EA8C-34E28D019049}"/>
              </a:ext>
            </a:extLst>
          </p:cNvPr>
          <p:cNvSpPr>
            <a:spLocks noGrp="1"/>
          </p:cNvSpPr>
          <p:nvPr>
            <p:ph type="title"/>
          </p:nvPr>
        </p:nvSpPr>
        <p:spPr/>
        <p:txBody>
          <a:bodyPr/>
          <a:lstStyle/>
          <a:p>
            <a:r>
              <a:rPr lang="fr-FR" dirty="0" err="1"/>
              <a:t>Naive</a:t>
            </a:r>
            <a:r>
              <a:rPr lang="fr-FR" dirty="0"/>
              <a:t> voucher </a:t>
            </a:r>
            <a:r>
              <a:rPr lang="fr-FR" dirty="0" err="1"/>
              <a:t>strategies</a:t>
            </a:r>
            <a:r>
              <a:rPr lang="fr-FR" dirty="0"/>
              <a:t> destroy value</a:t>
            </a:r>
            <a:endParaRPr lang="de-DE" dirty="0"/>
          </a:p>
        </p:txBody>
      </p:sp>
      <p:sp>
        <p:nvSpPr>
          <p:cNvPr id="4" name="Datumsplatzhalter 3">
            <a:extLst>
              <a:ext uri="{FF2B5EF4-FFF2-40B4-BE49-F238E27FC236}">
                <a16:creationId xmlns:a16="http://schemas.microsoft.com/office/drawing/2014/main" id="{FD037D0E-CC18-D512-60E2-847344FE6AB4}"/>
              </a:ext>
            </a:extLst>
          </p:cNvPr>
          <p:cNvSpPr>
            <a:spLocks noGrp="1"/>
          </p:cNvSpPr>
          <p:nvPr>
            <p:ph type="dt" sz="half" idx="10"/>
          </p:nvPr>
        </p:nvSpPr>
        <p:spPr/>
        <p:txBody>
          <a:bodyPr/>
          <a:lstStyle/>
          <a:p>
            <a:r>
              <a:rPr lang="en-US"/>
              <a:t>1/29/2026</a:t>
            </a:r>
            <a:endParaRPr lang="de-DE"/>
          </a:p>
        </p:txBody>
      </p:sp>
      <p:sp>
        <p:nvSpPr>
          <p:cNvPr id="5" name="Fußzeilenplatzhalter 4">
            <a:extLst>
              <a:ext uri="{FF2B5EF4-FFF2-40B4-BE49-F238E27FC236}">
                <a16:creationId xmlns:a16="http://schemas.microsoft.com/office/drawing/2014/main" id="{BCE6E182-58D5-DFFE-536E-0E3B63D2838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A9B98A1-9889-0CB8-540E-6B16E6E21D88}"/>
              </a:ext>
            </a:extLst>
          </p:cNvPr>
          <p:cNvSpPr>
            <a:spLocks noGrp="1"/>
          </p:cNvSpPr>
          <p:nvPr>
            <p:ph type="sldNum" sz="quarter" idx="12"/>
          </p:nvPr>
        </p:nvSpPr>
        <p:spPr/>
        <p:txBody>
          <a:bodyPr/>
          <a:lstStyle/>
          <a:p>
            <a:fld id="{9832B0F4-0138-426C-A884-6EC3C10E0B5B}" type="slidenum">
              <a:rPr lang="de-DE" smtClean="0"/>
              <a:t>5</a:t>
            </a:fld>
            <a:endParaRPr lang="de-DE"/>
          </a:p>
        </p:txBody>
      </p:sp>
      <p:graphicFrame>
        <p:nvGraphicFramePr>
          <p:cNvPr id="22" name="Diagramm 21">
            <a:extLst>
              <a:ext uri="{FF2B5EF4-FFF2-40B4-BE49-F238E27FC236}">
                <a16:creationId xmlns:a16="http://schemas.microsoft.com/office/drawing/2014/main" id="{CD6CE465-CC58-E87F-2057-6651690CD8DE}"/>
              </a:ext>
            </a:extLst>
          </p:cNvPr>
          <p:cNvGraphicFramePr/>
          <p:nvPr>
            <p:extLst>
              <p:ext uri="{D42A27DB-BD31-4B8C-83A1-F6EECF244321}">
                <p14:modId xmlns:p14="http://schemas.microsoft.com/office/powerpoint/2010/main" val="2297183291"/>
              </p:ext>
            </p:extLst>
          </p:nvPr>
        </p:nvGraphicFramePr>
        <p:xfrm>
          <a:off x="2283633" y="1948568"/>
          <a:ext cx="7616825" cy="4300008"/>
        </p:xfrm>
        <a:graphic>
          <a:graphicData uri="http://schemas.openxmlformats.org/drawingml/2006/chart">
            <c:chart xmlns:c="http://schemas.openxmlformats.org/drawingml/2006/chart" xmlns:r="http://schemas.openxmlformats.org/officeDocument/2006/relationships" r:id="rId3"/>
          </a:graphicData>
        </a:graphic>
      </p:graphicFrame>
      <p:sp>
        <p:nvSpPr>
          <p:cNvPr id="23" name="Rechteck 22">
            <a:extLst>
              <a:ext uri="{FF2B5EF4-FFF2-40B4-BE49-F238E27FC236}">
                <a16:creationId xmlns:a16="http://schemas.microsoft.com/office/drawing/2014/main" id="{635A3A8F-E813-B0BA-F51B-363A75F6D54A}"/>
              </a:ext>
            </a:extLst>
          </p:cNvPr>
          <p:cNvSpPr/>
          <p:nvPr/>
        </p:nvSpPr>
        <p:spPr>
          <a:xfrm rot="937002">
            <a:off x="8645495" y="2371726"/>
            <a:ext cx="1743075" cy="54207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benchmark</a:t>
            </a:r>
          </a:p>
        </p:txBody>
      </p:sp>
    </p:spTree>
    <p:extLst>
      <p:ext uri="{BB962C8B-B14F-4D97-AF65-F5344CB8AC3E}">
        <p14:creationId xmlns:p14="http://schemas.microsoft.com/office/powerpoint/2010/main" val="1866600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DA28-5E47-0A07-102C-0EA8625D333C}"/>
            </a:ext>
          </a:extLst>
        </p:cNvPr>
        <p:cNvGrpSpPr/>
        <p:nvPr/>
      </p:nvGrpSpPr>
      <p:grpSpPr>
        <a:xfrm>
          <a:off x="0" y="0"/>
          <a:ext cx="0" cy="0"/>
          <a:chOff x="0" y="0"/>
          <a:chExt cx="0" cy="0"/>
        </a:xfrm>
      </p:grpSpPr>
      <p:pic>
        <p:nvPicPr>
          <p:cNvPr id="13" name="Grafik 12" descr="Pfeile, die nach oben zeigen">
            <a:extLst>
              <a:ext uri="{FF2B5EF4-FFF2-40B4-BE49-F238E27FC236}">
                <a16:creationId xmlns:a16="http://schemas.microsoft.com/office/drawing/2014/main" id="{ED590A2F-A8EF-488C-8B9B-BDCC7A9C3975}"/>
              </a:ext>
            </a:extLst>
          </p:cNvPr>
          <p:cNvPicPr>
            <a:picLocks noChangeAspect="1"/>
          </p:cNvPicPr>
          <p:nvPr/>
        </p:nvPicPr>
        <p:blipFill>
          <a:blip r:embed="rId3">
            <a:alphaModFix amt="51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896297" y="25317"/>
            <a:ext cx="6267450" cy="6258269"/>
          </a:xfrm>
          <a:prstGeom prst="rect">
            <a:avLst/>
          </a:prstGeom>
        </p:spPr>
      </p:pic>
      <p:sp>
        <p:nvSpPr>
          <p:cNvPr id="11" name="Textfeld 10">
            <a:extLst>
              <a:ext uri="{FF2B5EF4-FFF2-40B4-BE49-F238E27FC236}">
                <a16:creationId xmlns:a16="http://schemas.microsoft.com/office/drawing/2014/main" id="{E82E1B48-ECB3-DE12-BD72-872D612B0580}"/>
              </a:ext>
            </a:extLst>
          </p:cNvPr>
          <p:cNvSpPr txBox="1"/>
          <p:nvPr/>
        </p:nvSpPr>
        <p:spPr>
          <a:xfrm>
            <a:off x="1352550" y="2219325"/>
            <a:ext cx="10839450" cy="540000"/>
          </a:xfrm>
          <a:prstGeom prst="rect">
            <a:avLst/>
          </a:prstGeom>
          <a:gradFill flip="none" rotWithShape="1">
            <a:gsLst>
              <a:gs pos="0">
                <a:schemeClr val="bg1">
                  <a:lumMod val="95000"/>
                  <a:lumOff val="5000"/>
                </a:schemeClr>
              </a:gs>
              <a:gs pos="100000">
                <a:schemeClr val="bg1">
                  <a:lumMod val="95000"/>
                  <a:lumOff val="5000"/>
                  <a:alpha val="42000"/>
                </a:schemeClr>
              </a:gs>
            </a:gsLst>
            <a:lin ang="0" scaled="1"/>
            <a:tileRect/>
          </a:gradFill>
        </p:spPr>
        <p:txBody>
          <a:bodyPr wrap="square" rtlCol="0" anchor="ctr">
            <a:normAutofit/>
          </a:bodyPr>
          <a:lstStyle/>
          <a:p>
            <a:pPr marL="628650"/>
            <a:r>
              <a:rPr lang="en-US" sz="2000" dirty="0"/>
              <a:t>We tuned the model’s hyperparameters to maximize revenue</a:t>
            </a:r>
            <a:endParaRPr lang="de-DE" sz="2000" dirty="0"/>
          </a:p>
        </p:txBody>
      </p:sp>
      <p:sp>
        <p:nvSpPr>
          <p:cNvPr id="2" name="Titel 1">
            <a:extLst>
              <a:ext uri="{FF2B5EF4-FFF2-40B4-BE49-F238E27FC236}">
                <a16:creationId xmlns:a16="http://schemas.microsoft.com/office/drawing/2014/main" id="{7696012D-4ADC-CF1C-5E05-32DF622F6A42}"/>
              </a:ext>
            </a:extLst>
          </p:cNvPr>
          <p:cNvSpPr>
            <a:spLocks noGrp="1"/>
          </p:cNvSpPr>
          <p:nvPr>
            <p:ph type="title"/>
          </p:nvPr>
        </p:nvSpPr>
        <p:spPr/>
        <p:txBody>
          <a:bodyPr/>
          <a:lstStyle/>
          <a:p>
            <a:r>
              <a:rPr lang="en-US" dirty="0"/>
              <a:t>Gradient Boosting is the best-performing model</a:t>
            </a:r>
            <a:endParaRPr lang="de-DE" dirty="0"/>
          </a:p>
        </p:txBody>
      </p:sp>
      <p:sp>
        <p:nvSpPr>
          <p:cNvPr id="4" name="Datumsplatzhalter 3">
            <a:extLst>
              <a:ext uri="{FF2B5EF4-FFF2-40B4-BE49-F238E27FC236}">
                <a16:creationId xmlns:a16="http://schemas.microsoft.com/office/drawing/2014/main" id="{92B30A78-D0A3-B69D-4564-F47AFDDAB08A}"/>
              </a:ext>
            </a:extLst>
          </p:cNvPr>
          <p:cNvSpPr>
            <a:spLocks noGrp="1"/>
          </p:cNvSpPr>
          <p:nvPr>
            <p:ph type="dt" sz="half" idx="10"/>
          </p:nvPr>
        </p:nvSpPr>
        <p:spPr/>
        <p:txBody>
          <a:bodyPr/>
          <a:lstStyle/>
          <a:p>
            <a:r>
              <a:rPr lang="en-US"/>
              <a:t>1/29/2026</a:t>
            </a:r>
            <a:endParaRPr lang="de-DE"/>
          </a:p>
        </p:txBody>
      </p:sp>
      <p:sp>
        <p:nvSpPr>
          <p:cNvPr id="5" name="Fußzeilenplatzhalter 4">
            <a:extLst>
              <a:ext uri="{FF2B5EF4-FFF2-40B4-BE49-F238E27FC236}">
                <a16:creationId xmlns:a16="http://schemas.microsoft.com/office/drawing/2014/main" id="{594CFF8D-9442-CF26-1189-5F0ADA7389B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E0C5C0C-06D7-23E2-050C-F6AF195E116C}"/>
              </a:ext>
            </a:extLst>
          </p:cNvPr>
          <p:cNvSpPr>
            <a:spLocks noGrp="1"/>
          </p:cNvSpPr>
          <p:nvPr>
            <p:ph type="sldNum" sz="quarter" idx="12"/>
          </p:nvPr>
        </p:nvSpPr>
        <p:spPr/>
        <p:txBody>
          <a:bodyPr/>
          <a:lstStyle/>
          <a:p>
            <a:fld id="{9832B0F4-0138-426C-A884-6EC3C10E0B5B}" type="slidenum">
              <a:rPr lang="de-DE" smtClean="0"/>
              <a:t>6</a:t>
            </a:fld>
            <a:endParaRPr lang="de-DE"/>
          </a:p>
        </p:txBody>
      </p:sp>
      <p:sp>
        <p:nvSpPr>
          <p:cNvPr id="9" name="Flussdiagramm: Verbinder 8">
            <a:extLst>
              <a:ext uri="{FF2B5EF4-FFF2-40B4-BE49-F238E27FC236}">
                <a16:creationId xmlns:a16="http://schemas.microsoft.com/office/drawing/2014/main" id="{1F61467A-20B0-D0C2-4245-C030F7EEF09B}"/>
              </a:ext>
            </a:extLst>
          </p:cNvPr>
          <p:cNvSpPr/>
          <p:nvPr/>
        </p:nvSpPr>
        <p:spPr>
          <a:xfrm>
            <a:off x="1097280" y="2219325"/>
            <a:ext cx="540000" cy="540000"/>
          </a:xfrm>
          <a:prstGeom prst="flowChartConnector">
            <a:avLst/>
          </a:prstGeom>
          <a:solidFill>
            <a:srgbClr val="0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1</a:t>
            </a:r>
          </a:p>
        </p:txBody>
      </p:sp>
      <p:sp>
        <p:nvSpPr>
          <p:cNvPr id="12" name="Textfeld 11">
            <a:extLst>
              <a:ext uri="{FF2B5EF4-FFF2-40B4-BE49-F238E27FC236}">
                <a16:creationId xmlns:a16="http://schemas.microsoft.com/office/drawing/2014/main" id="{2A26F688-620C-B79C-55C6-F73D960B0FFE}"/>
              </a:ext>
            </a:extLst>
          </p:cNvPr>
          <p:cNvSpPr txBox="1"/>
          <p:nvPr/>
        </p:nvSpPr>
        <p:spPr>
          <a:xfrm>
            <a:off x="1637280" y="2759325"/>
            <a:ext cx="6267450" cy="2062103"/>
          </a:xfrm>
          <a:prstGeom prst="rect">
            <a:avLst/>
          </a:prstGeom>
          <a:noFill/>
        </p:spPr>
        <p:txBody>
          <a:bodyPr wrap="square" rtlCol="0">
            <a:spAutoFit/>
          </a:bodyPr>
          <a:lstStyle/>
          <a:p>
            <a:r>
              <a:rPr lang="en-US" sz="1600" b="1" dirty="0"/>
              <a:t>Hyperparameters:</a:t>
            </a:r>
          </a:p>
          <a:p>
            <a:pPr marL="285750" indent="-285750">
              <a:buClr>
                <a:schemeClr val="accent3"/>
              </a:buClr>
              <a:buFont typeface="Arial" panose="020B0604020202020204" pitchFamily="34" charset="0"/>
              <a:buChar char="•"/>
            </a:pPr>
            <a:r>
              <a:rPr lang="de-DE" sz="1600" dirty="0"/>
              <a:t>subsample: 0.6, </a:t>
            </a:r>
          </a:p>
          <a:p>
            <a:pPr marL="285750" indent="-285750">
              <a:buClr>
                <a:schemeClr val="accent3"/>
              </a:buClr>
              <a:buFont typeface="Arial" panose="020B0604020202020204" pitchFamily="34" charset="0"/>
              <a:buChar char="•"/>
            </a:pPr>
            <a:r>
              <a:rPr lang="de-DE" sz="1600" dirty="0" err="1"/>
              <a:t>n_estimators</a:t>
            </a:r>
            <a:r>
              <a:rPr lang="de-DE" sz="1600" dirty="0"/>
              <a:t>: 600, </a:t>
            </a:r>
          </a:p>
          <a:p>
            <a:pPr marL="285750" indent="-285750">
              <a:buClr>
                <a:schemeClr val="accent3"/>
              </a:buClr>
              <a:buFont typeface="Arial" panose="020B0604020202020204" pitchFamily="34" charset="0"/>
              <a:buChar char="•"/>
            </a:pPr>
            <a:r>
              <a:rPr lang="de-DE" sz="1600" dirty="0" err="1"/>
              <a:t>min_samples_split</a:t>
            </a:r>
            <a:r>
              <a:rPr lang="de-DE" sz="1600" dirty="0"/>
              <a:t>: 5</a:t>
            </a:r>
          </a:p>
          <a:p>
            <a:pPr marL="285750" indent="-285750">
              <a:buClr>
                <a:schemeClr val="accent3"/>
              </a:buClr>
              <a:buFont typeface="Arial" panose="020B0604020202020204" pitchFamily="34" charset="0"/>
              <a:buChar char="•"/>
            </a:pPr>
            <a:r>
              <a:rPr lang="de-DE" sz="1600" dirty="0" err="1"/>
              <a:t>min_samples_leaf</a:t>
            </a:r>
            <a:r>
              <a:rPr lang="de-DE" sz="1600" dirty="0"/>
              <a:t>: 1</a:t>
            </a:r>
          </a:p>
          <a:p>
            <a:pPr marL="285750" indent="-285750">
              <a:buClr>
                <a:schemeClr val="accent3"/>
              </a:buClr>
              <a:buFont typeface="Arial" panose="020B0604020202020204" pitchFamily="34" charset="0"/>
              <a:buChar char="•"/>
            </a:pPr>
            <a:r>
              <a:rPr lang="de-DE" sz="1600" dirty="0" err="1"/>
              <a:t>max_features</a:t>
            </a:r>
            <a:r>
              <a:rPr lang="de-DE" sz="1600" dirty="0"/>
              <a:t>: None</a:t>
            </a:r>
          </a:p>
          <a:p>
            <a:pPr marL="285750" indent="-285750">
              <a:buClr>
                <a:schemeClr val="accent3"/>
              </a:buClr>
              <a:buFont typeface="Arial" panose="020B0604020202020204" pitchFamily="34" charset="0"/>
              <a:buChar char="•"/>
            </a:pPr>
            <a:r>
              <a:rPr lang="de-DE" sz="1600" dirty="0" err="1"/>
              <a:t>max_depth</a:t>
            </a:r>
            <a:r>
              <a:rPr lang="de-DE" sz="1600" dirty="0"/>
              <a:t>: 4</a:t>
            </a:r>
          </a:p>
          <a:p>
            <a:pPr marL="285750" indent="-285750">
              <a:buClr>
                <a:schemeClr val="accent3"/>
              </a:buClr>
              <a:buFont typeface="Arial" panose="020B0604020202020204" pitchFamily="34" charset="0"/>
              <a:buChar char="•"/>
            </a:pPr>
            <a:r>
              <a:rPr lang="de-DE" sz="1600" dirty="0" err="1"/>
              <a:t>learning_rate</a:t>
            </a:r>
            <a:r>
              <a:rPr lang="de-DE" sz="1600" dirty="0"/>
              <a:t>: 0.01</a:t>
            </a:r>
          </a:p>
        </p:txBody>
      </p:sp>
      <p:sp>
        <p:nvSpPr>
          <p:cNvPr id="16" name="Textfeld 15">
            <a:extLst>
              <a:ext uri="{FF2B5EF4-FFF2-40B4-BE49-F238E27FC236}">
                <a16:creationId xmlns:a16="http://schemas.microsoft.com/office/drawing/2014/main" id="{ADF35C2A-0D1B-11E6-8E02-4323EF46E094}"/>
              </a:ext>
            </a:extLst>
          </p:cNvPr>
          <p:cNvSpPr txBox="1"/>
          <p:nvPr/>
        </p:nvSpPr>
        <p:spPr>
          <a:xfrm>
            <a:off x="1352550" y="4897820"/>
            <a:ext cx="10839450" cy="540000"/>
          </a:xfrm>
          <a:prstGeom prst="rect">
            <a:avLst/>
          </a:prstGeom>
          <a:gradFill flip="none" rotWithShape="1">
            <a:gsLst>
              <a:gs pos="0">
                <a:schemeClr val="bg1">
                  <a:lumMod val="95000"/>
                  <a:lumOff val="5000"/>
                </a:schemeClr>
              </a:gs>
              <a:gs pos="100000">
                <a:schemeClr val="bg1">
                  <a:lumMod val="95000"/>
                  <a:lumOff val="5000"/>
                  <a:alpha val="42000"/>
                </a:schemeClr>
              </a:gs>
            </a:gsLst>
            <a:lin ang="0" scaled="1"/>
            <a:tileRect/>
          </a:gradFill>
        </p:spPr>
        <p:txBody>
          <a:bodyPr wrap="square" rtlCol="0" anchor="ctr">
            <a:normAutofit/>
          </a:bodyPr>
          <a:lstStyle/>
          <a:p>
            <a:pPr marL="628650"/>
            <a:r>
              <a:rPr lang="de-DE" sz="2000" dirty="0" err="1"/>
              <a:t>We</a:t>
            </a:r>
            <a:r>
              <a:rPr lang="de-DE" sz="2000" dirty="0"/>
              <a:t> </a:t>
            </a:r>
            <a:r>
              <a:rPr lang="de-DE" sz="2000" dirty="0" err="1"/>
              <a:t>boosted</a:t>
            </a:r>
            <a:r>
              <a:rPr lang="de-DE" sz="2000" dirty="0"/>
              <a:t> </a:t>
            </a:r>
            <a:r>
              <a:rPr lang="de-DE" sz="2000" dirty="0" err="1"/>
              <a:t>expected</a:t>
            </a:r>
            <a:r>
              <a:rPr lang="de-DE" sz="2000" dirty="0"/>
              <a:t> </a:t>
            </a:r>
            <a:r>
              <a:rPr lang="de-DE" sz="2000" dirty="0" err="1"/>
              <a:t>revenue</a:t>
            </a:r>
            <a:r>
              <a:rPr lang="de-DE" sz="2000" dirty="0"/>
              <a:t> </a:t>
            </a:r>
            <a:r>
              <a:rPr lang="de-DE" sz="2000" dirty="0" err="1"/>
              <a:t>to</a:t>
            </a:r>
            <a:r>
              <a:rPr lang="de-DE" sz="2000" dirty="0"/>
              <a:t> 2077.50 €</a:t>
            </a:r>
          </a:p>
        </p:txBody>
      </p:sp>
      <p:sp>
        <p:nvSpPr>
          <p:cNvPr id="14" name="Flussdiagramm: Verbinder 13">
            <a:extLst>
              <a:ext uri="{FF2B5EF4-FFF2-40B4-BE49-F238E27FC236}">
                <a16:creationId xmlns:a16="http://schemas.microsoft.com/office/drawing/2014/main" id="{FDCE7A5D-9FB9-9734-1B2D-763D0CC2F2D2}"/>
              </a:ext>
            </a:extLst>
          </p:cNvPr>
          <p:cNvSpPr/>
          <p:nvPr/>
        </p:nvSpPr>
        <p:spPr>
          <a:xfrm>
            <a:off x="1097280" y="4897820"/>
            <a:ext cx="540000" cy="540000"/>
          </a:xfrm>
          <a:prstGeom prst="flowChartConnector">
            <a:avLst/>
          </a:prstGeom>
          <a:solidFill>
            <a:srgbClr val="0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2</a:t>
            </a:r>
          </a:p>
        </p:txBody>
      </p:sp>
      <p:cxnSp>
        <p:nvCxnSpPr>
          <p:cNvPr id="17" name="Gerader Verbinder 16">
            <a:extLst>
              <a:ext uri="{FF2B5EF4-FFF2-40B4-BE49-F238E27FC236}">
                <a16:creationId xmlns:a16="http://schemas.microsoft.com/office/drawing/2014/main" id="{F85F1FDC-0901-AF08-DCC8-D20CFFD590D8}"/>
              </a:ext>
            </a:extLst>
          </p:cNvPr>
          <p:cNvCxnSpPr/>
          <p:nvPr/>
        </p:nvCxnSpPr>
        <p:spPr>
          <a:xfrm>
            <a:off x="1225899" y="1737360"/>
            <a:ext cx="99865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6303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EDF46C-D431-7EB7-3681-E2F19D85C563}"/>
              </a:ext>
            </a:extLst>
          </p:cNvPr>
          <p:cNvSpPr>
            <a:spLocks noGrp="1"/>
          </p:cNvSpPr>
          <p:nvPr>
            <p:ph type="title"/>
          </p:nvPr>
        </p:nvSpPr>
        <p:spPr/>
        <p:txBody>
          <a:bodyPr/>
          <a:lstStyle/>
          <a:p>
            <a:r>
              <a:rPr lang="en-US" dirty="0"/>
              <a:t>A revenue-optimal threshold determines who receives a voucher</a:t>
            </a:r>
            <a:endParaRPr lang="de-DE" dirty="0"/>
          </a:p>
        </p:txBody>
      </p:sp>
      <p:sp>
        <p:nvSpPr>
          <p:cNvPr id="4" name="Datumsplatzhalter 3">
            <a:extLst>
              <a:ext uri="{FF2B5EF4-FFF2-40B4-BE49-F238E27FC236}">
                <a16:creationId xmlns:a16="http://schemas.microsoft.com/office/drawing/2014/main" id="{6FD2447A-44F8-8186-A2E8-1943A00D15A2}"/>
              </a:ext>
            </a:extLst>
          </p:cNvPr>
          <p:cNvSpPr>
            <a:spLocks noGrp="1"/>
          </p:cNvSpPr>
          <p:nvPr>
            <p:ph type="dt" sz="half" idx="10"/>
          </p:nvPr>
        </p:nvSpPr>
        <p:spPr/>
        <p:txBody>
          <a:bodyPr/>
          <a:lstStyle/>
          <a:p>
            <a:r>
              <a:rPr lang="en-US"/>
              <a:t>1/29/2026</a:t>
            </a:r>
            <a:endParaRPr lang="de-DE"/>
          </a:p>
        </p:txBody>
      </p:sp>
      <p:sp>
        <p:nvSpPr>
          <p:cNvPr id="5" name="Fußzeilenplatzhalter 4">
            <a:extLst>
              <a:ext uri="{FF2B5EF4-FFF2-40B4-BE49-F238E27FC236}">
                <a16:creationId xmlns:a16="http://schemas.microsoft.com/office/drawing/2014/main" id="{839ADD24-8F78-7A11-F4C6-E41BCB07496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6C62EA0-7FA3-E1B4-A959-3EB149967B5C}"/>
              </a:ext>
            </a:extLst>
          </p:cNvPr>
          <p:cNvSpPr>
            <a:spLocks noGrp="1"/>
          </p:cNvSpPr>
          <p:nvPr>
            <p:ph type="sldNum" sz="quarter" idx="12"/>
          </p:nvPr>
        </p:nvSpPr>
        <p:spPr/>
        <p:txBody>
          <a:bodyPr/>
          <a:lstStyle/>
          <a:p>
            <a:fld id="{9832B0F4-0138-426C-A884-6EC3C10E0B5B}" type="slidenum">
              <a:rPr lang="de-DE" smtClean="0"/>
              <a:t>7</a:t>
            </a:fld>
            <a:endParaRPr lang="de-DE"/>
          </a:p>
        </p:txBody>
      </p:sp>
      <p:graphicFrame>
        <p:nvGraphicFramePr>
          <p:cNvPr id="3" name="Tabelle 2">
            <a:extLst>
              <a:ext uri="{FF2B5EF4-FFF2-40B4-BE49-F238E27FC236}">
                <a16:creationId xmlns:a16="http://schemas.microsoft.com/office/drawing/2014/main" id="{1B5F08CF-11C2-C063-EB48-D5439269D650}"/>
              </a:ext>
            </a:extLst>
          </p:cNvPr>
          <p:cNvGraphicFramePr>
            <a:graphicFrameLocks noGrp="1"/>
          </p:cNvGraphicFramePr>
          <p:nvPr>
            <p:extLst>
              <p:ext uri="{D42A27DB-BD31-4B8C-83A1-F6EECF244321}">
                <p14:modId xmlns:p14="http://schemas.microsoft.com/office/powerpoint/2010/main" val="3042150276"/>
              </p:ext>
            </p:extLst>
          </p:nvPr>
        </p:nvGraphicFramePr>
        <p:xfrm>
          <a:off x="1218083" y="3358663"/>
          <a:ext cx="3796044" cy="1723063"/>
        </p:xfrm>
        <a:graphic>
          <a:graphicData uri="http://schemas.openxmlformats.org/drawingml/2006/table">
            <a:tbl>
              <a:tblPr firstRow="1" bandRow="1">
                <a:tableStyleId>{5C22544A-7EE6-4342-B048-85BDC9FD1C3A}</a:tableStyleId>
              </a:tblPr>
              <a:tblGrid>
                <a:gridCol w="1265348">
                  <a:extLst>
                    <a:ext uri="{9D8B030D-6E8A-4147-A177-3AD203B41FA5}">
                      <a16:colId xmlns:a16="http://schemas.microsoft.com/office/drawing/2014/main" val="1302015445"/>
                    </a:ext>
                  </a:extLst>
                </a:gridCol>
                <a:gridCol w="1265348">
                  <a:extLst>
                    <a:ext uri="{9D8B030D-6E8A-4147-A177-3AD203B41FA5}">
                      <a16:colId xmlns:a16="http://schemas.microsoft.com/office/drawing/2014/main" val="3948224047"/>
                    </a:ext>
                  </a:extLst>
                </a:gridCol>
                <a:gridCol w="1265348">
                  <a:extLst>
                    <a:ext uri="{9D8B030D-6E8A-4147-A177-3AD203B41FA5}">
                      <a16:colId xmlns:a16="http://schemas.microsoft.com/office/drawing/2014/main" val="3286032403"/>
                    </a:ext>
                  </a:extLst>
                </a:gridCol>
              </a:tblGrid>
              <a:tr h="489856">
                <a:tc>
                  <a:txBody>
                    <a:bodyPr/>
                    <a:lstStyle/>
                    <a:p>
                      <a:endParaRPr lang="de-DE" dirty="0"/>
                    </a:p>
                  </a:txBody>
                  <a:tcPr/>
                </a:tc>
                <a:tc>
                  <a:txBody>
                    <a:bodyPr/>
                    <a:lstStyle/>
                    <a:p>
                      <a:pPr algn="ctr"/>
                      <a:r>
                        <a:rPr lang="de-DE" dirty="0" err="1"/>
                        <a:t>Don‘t</a:t>
                      </a:r>
                      <a:r>
                        <a:rPr lang="de-DE" dirty="0"/>
                        <a:t> send</a:t>
                      </a:r>
                    </a:p>
                  </a:txBody>
                  <a:tcPr anchor="ctr"/>
                </a:tc>
                <a:tc>
                  <a:txBody>
                    <a:bodyPr/>
                    <a:lstStyle/>
                    <a:p>
                      <a:pPr algn="ctr"/>
                      <a:r>
                        <a:rPr lang="de-DE" dirty="0"/>
                        <a:t>Send</a:t>
                      </a:r>
                    </a:p>
                  </a:txBody>
                  <a:tcPr anchor="ctr"/>
                </a:tc>
                <a:extLst>
                  <a:ext uri="{0D108BD9-81ED-4DB2-BD59-A6C34878D82A}">
                    <a16:rowId xmlns:a16="http://schemas.microsoft.com/office/drawing/2014/main" val="1496097202"/>
                  </a:ext>
                </a:extLst>
              </a:tr>
              <a:tr h="703612">
                <a:tc>
                  <a:txBody>
                    <a:bodyPr/>
                    <a:lstStyle/>
                    <a:p>
                      <a:r>
                        <a:rPr lang="de-DE" dirty="0" err="1"/>
                        <a:t>No</a:t>
                      </a:r>
                      <a:r>
                        <a:rPr lang="de-DE" dirty="0"/>
                        <a:t> </a:t>
                      </a:r>
                      <a:r>
                        <a:rPr lang="de-DE" dirty="0" err="1"/>
                        <a:t>Reorder</a:t>
                      </a:r>
                      <a:endParaRPr lang="de-DE" dirty="0"/>
                    </a:p>
                  </a:txBody>
                  <a:tcPr anchor="ctr"/>
                </a:tc>
                <a:tc>
                  <a:txBody>
                    <a:bodyPr/>
                    <a:lstStyle/>
                    <a:p>
                      <a:pPr algn="ctr"/>
                      <a:r>
                        <a:rPr lang="de-DE" dirty="0"/>
                        <a:t>2016</a:t>
                      </a:r>
                    </a:p>
                  </a:txBody>
                  <a:tcPr anchor="ctr"/>
                </a:tc>
                <a:tc>
                  <a:txBody>
                    <a:bodyPr/>
                    <a:lstStyle/>
                    <a:p>
                      <a:pPr algn="ctr"/>
                      <a:r>
                        <a:rPr lang="de-DE" dirty="0"/>
                        <a:t>4578</a:t>
                      </a:r>
                    </a:p>
                  </a:txBody>
                  <a:tcPr anchor="ctr"/>
                </a:tc>
                <a:extLst>
                  <a:ext uri="{0D108BD9-81ED-4DB2-BD59-A6C34878D82A}">
                    <a16:rowId xmlns:a16="http://schemas.microsoft.com/office/drawing/2014/main" val="3872564599"/>
                  </a:ext>
                </a:extLst>
              </a:tr>
              <a:tr h="529595">
                <a:tc>
                  <a:txBody>
                    <a:bodyPr/>
                    <a:lstStyle/>
                    <a:p>
                      <a:r>
                        <a:rPr lang="de-DE" dirty="0" err="1"/>
                        <a:t>Reorder</a:t>
                      </a:r>
                      <a:endParaRPr lang="de-DE" dirty="0"/>
                    </a:p>
                  </a:txBody>
                  <a:tcPr anchor="ctr"/>
                </a:tc>
                <a:tc>
                  <a:txBody>
                    <a:bodyPr/>
                    <a:lstStyle/>
                    <a:p>
                      <a:pPr algn="ctr"/>
                      <a:r>
                        <a:rPr lang="de-DE" dirty="0"/>
                        <a:t>784</a:t>
                      </a:r>
                    </a:p>
                  </a:txBody>
                  <a:tcPr anchor="ctr"/>
                </a:tc>
                <a:tc>
                  <a:txBody>
                    <a:bodyPr/>
                    <a:lstStyle/>
                    <a:p>
                      <a:pPr algn="ctr"/>
                      <a:r>
                        <a:rPr lang="de-DE" dirty="0"/>
                        <a:t>729</a:t>
                      </a:r>
                    </a:p>
                  </a:txBody>
                  <a:tcPr anchor="ctr"/>
                </a:tc>
                <a:extLst>
                  <a:ext uri="{0D108BD9-81ED-4DB2-BD59-A6C34878D82A}">
                    <a16:rowId xmlns:a16="http://schemas.microsoft.com/office/drawing/2014/main" val="2726703459"/>
                  </a:ext>
                </a:extLst>
              </a:tr>
            </a:tbl>
          </a:graphicData>
        </a:graphic>
      </p:graphicFrame>
      <p:sp>
        <p:nvSpPr>
          <p:cNvPr id="7" name="Rechteck 6">
            <a:extLst>
              <a:ext uri="{FF2B5EF4-FFF2-40B4-BE49-F238E27FC236}">
                <a16:creationId xmlns:a16="http://schemas.microsoft.com/office/drawing/2014/main" id="{AA5DBFA5-BB97-CB12-AF07-1C8A81F0C584}"/>
              </a:ext>
            </a:extLst>
          </p:cNvPr>
          <p:cNvSpPr/>
          <p:nvPr/>
        </p:nvSpPr>
        <p:spPr>
          <a:xfrm>
            <a:off x="2481944" y="2964694"/>
            <a:ext cx="2532183" cy="3014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Action</a:t>
            </a:r>
          </a:p>
        </p:txBody>
      </p:sp>
      <p:sp>
        <p:nvSpPr>
          <p:cNvPr id="8" name="Rechteck 7">
            <a:extLst>
              <a:ext uri="{FF2B5EF4-FFF2-40B4-BE49-F238E27FC236}">
                <a16:creationId xmlns:a16="http://schemas.microsoft.com/office/drawing/2014/main" id="{1D76D12A-2BB6-0B24-7193-9089F2B6AF3B}"/>
              </a:ext>
            </a:extLst>
          </p:cNvPr>
          <p:cNvSpPr/>
          <p:nvPr/>
        </p:nvSpPr>
        <p:spPr>
          <a:xfrm rot="16200000">
            <a:off x="364427" y="4319421"/>
            <a:ext cx="1223159" cy="3014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True Label</a:t>
            </a:r>
          </a:p>
        </p:txBody>
      </p:sp>
      <p:pic>
        <p:nvPicPr>
          <p:cNvPr id="10" name="Grafik 9" descr="Ein Bild, das Text, Diagramm, Reihe, Screenshot enthält.&#10;&#10;KI-generierte Inhalte können fehlerhaft sein.">
            <a:extLst>
              <a:ext uri="{FF2B5EF4-FFF2-40B4-BE49-F238E27FC236}">
                <a16:creationId xmlns:a16="http://schemas.microsoft.com/office/drawing/2014/main" id="{214D72A5-DE5B-EC53-4369-2236575880FA}"/>
              </a:ext>
            </a:extLst>
          </p:cNvPr>
          <p:cNvPicPr>
            <a:picLocks noChangeAspect="1"/>
          </p:cNvPicPr>
          <p:nvPr/>
        </p:nvPicPr>
        <p:blipFill>
          <a:blip r:embed="rId3"/>
          <a:stretch>
            <a:fillRect/>
          </a:stretch>
        </p:blipFill>
        <p:spPr>
          <a:xfrm>
            <a:off x="5196831" y="2221584"/>
            <a:ext cx="5958849" cy="3695995"/>
          </a:xfrm>
          <a:prstGeom prst="rect">
            <a:avLst/>
          </a:prstGeom>
        </p:spPr>
      </p:pic>
    </p:spTree>
    <p:extLst>
      <p:ext uri="{BB962C8B-B14F-4D97-AF65-F5344CB8AC3E}">
        <p14:creationId xmlns:p14="http://schemas.microsoft.com/office/powerpoint/2010/main" val="3141079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C3EA61-AFBE-A43E-5270-42548E2EB40A}"/>
              </a:ext>
            </a:extLst>
          </p:cNvPr>
          <p:cNvSpPr>
            <a:spLocks noGrp="1"/>
          </p:cNvSpPr>
          <p:nvPr>
            <p:ph type="title"/>
          </p:nvPr>
        </p:nvSpPr>
        <p:spPr/>
        <p:txBody>
          <a:bodyPr/>
          <a:lstStyle/>
          <a:p>
            <a:r>
              <a:rPr lang="en-US" dirty="0"/>
              <a:t>Customer behavior and returns drive reorder predictions</a:t>
            </a:r>
            <a:endParaRPr lang="de-DE" dirty="0"/>
          </a:p>
        </p:txBody>
      </p:sp>
      <p:sp>
        <p:nvSpPr>
          <p:cNvPr id="3" name="Inhaltsplatzhalter 2">
            <a:extLst>
              <a:ext uri="{FF2B5EF4-FFF2-40B4-BE49-F238E27FC236}">
                <a16:creationId xmlns:a16="http://schemas.microsoft.com/office/drawing/2014/main" id="{C48D79E4-0A35-9877-611B-9DF4A8DC38E7}"/>
              </a:ext>
            </a:extLst>
          </p:cNvPr>
          <p:cNvSpPr>
            <a:spLocks noGrp="1"/>
          </p:cNvSpPr>
          <p:nvPr>
            <p:ph idx="1"/>
          </p:nvPr>
        </p:nvSpPr>
        <p:spPr>
          <a:xfrm>
            <a:off x="7067550" y="1845734"/>
            <a:ext cx="4088130" cy="4023360"/>
          </a:xfrm>
        </p:spPr>
        <p:txBody>
          <a:bodyPr/>
          <a:lstStyle/>
          <a:p>
            <a:r>
              <a:rPr lang="en-US" b="1" dirty="0"/>
              <a:t>Key insights</a:t>
            </a:r>
            <a:endParaRPr lang="en-US" dirty="0"/>
          </a:p>
          <a:p>
            <a:pPr marL="266700" indent="-266700">
              <a:lnSpc>
                <a:spcPct val="100000"/>
              </a:lnSpc>
              <a:buFont typeface="Arial" panose="020B0604020202020204" pitchFamily="34" charset="0"/>
              <a:buChar char="•"/>
            </a:pPr>
            <a:r>
              <a:rPr lang="en-US" sz="1800" dirty="0"/>
              <a:t>Return behavior (</a:t>
            </a:r>
            <a:r>
              <a:rPr lang="en-US" sz="1800" dirty="0" err="1"/>
              <a:t>remi</a:t>
            </a:r>
            <a:r>
              <a:rPr lang="en-US" sz="1800" dirty="0"/>
              <a:t>) is the strongest signal </a:t>
            </a:r>
          </a:p>
          <a:p>
            <a:pPr marL="266700" indent="-266700">
              <a:lnSpc>
                <a:spcPct val="100000"/>
              </a:lnSpc>
              <a:buFont typeface="Arial" panose="020B0604020202020204" pitchFamily="34" charset="0"/>
              <a:buChar char="•"/>
            </a:pPr>
            <a:r>
              <a:rPr lang="en-US" sz="1800" dirty="0"/>
              <a:t>Operational factors (e.g. weight, delivery) also influence reorders</a:t>
            </a:r>
          </a:p>
          <a:p>
            <a:pPr marL="266700" indent="-266700">
              <a:lnSpc>
                <a:spcPct val="100000"/>
              </a:lnSpc>
              <a:buFont typeface="Arial" panose="020B0604020202020204" pitchFamily="34" charset="0"/>
              <a:buChar char="•"/>
            </a:pPr>
            <a:r>
              <a:rPr lang="en-US" sz="1800" dirty="0"/>
              <a:t>Seasonal effects (order month) matter</a:t>
            </a:r>
          </a:p>
          <a:p>
            <a:endParaRPr lang="de-DE" dirty="0"/>
          </a:p>
        </p:txBody>
      </p:sp>
      <p:sp>
        <p:nvSpPr>
          <p:cNvPr id="4" name="Datumsplatzhalter 3">
            <a:extLst>
              <a:ext uri="{FF2B5EF4-FFF2-40B4-BE49-F238E27FC236}">
                <a16:creationId xmlns:a16="http://schemas.microsoft.com/office/drawing/2014/main" id="{B578E8EC-AB35-8A83-4043-6A9FC6704B6F}"/>
              </a:ext>
            </a:extLst>
          </p:cNvPr>
          <p:cNvSpPr>
            <a:spLocks noGrp="1"/>
          </p:cNvSpPr>
          <p:nvPr>
            <p:ph type="dt" sz="half" idx="10"/>
          </p:nvPr>
        </p:nvSpPr>
        <p:spPr/>
        <p:txBody>
          <a:bodyPr/>
          <a:lstStyle/>
          <a:p>
            <a:r>
              <a:rPr lang="en-US"/>
              <a:t>1/29/2026</a:t>
            </a:r>
            <a:endParaRPr lang="de-DE"/>
          </a:p>
        </p:txBody>
      </p:sp>
      <p:sp>
        <p:nvSpPr>
          <p:cNvPr id="5" name="Fußzeilenplatzhalter 4">
            <a:extLst>
              <a:ext uri="{FF2B5EF4-FFF2-40B4-BE49-F238E27FC236}">
                <a16:creationId xmlns:a16="http://schemas.microsoft.com/office/drawing/2014/main" id="{FD001B71-0CDD-0774-571A-38F958CD318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D06C5BF-297E-AE16-35FB-B616176D557E}"/>
              </a:ext>
            </a:extLst>
          </p:cNvPr>
          <p:cNvSpPr>
            <a:spLocks noGrp="1"/>
          </p:cNvSpPr>
          <p:nvPr>
            <p:ph type="sldNum" sz="quarter" idx="12"/>
          </p:nvPr>
        </p:nvSpPr>
        <p:spPr/>
        <p:txBody>
          <a:bodyPr/>
          <a:lstStyle/>
          <a:p>
            <a:fld id="{9832B0F4-0138-426C-A884-6EC3C10E0B5B}" type="slidenum">
              <a:rPr lang="de-DE" smtClean="0"/>
              <a:t>8</a:t>
            </a:fld>
            <a:endParaRPr lang="de-DE"/>
          </a:p>
        </p:txBody>
      </p:sp>
      <p:sp>
        <p:nvSpPr>
          <p:cNvPr id="9" name="Rechteck 8">
            <a:extLst>
              <a:ext uri="{FF2B5EF4-FFF2-40B4-BE49-F238E27FC236}">
                <a16:creationId xmlns:a16="http://schemas.microsoft.com/office/drawing/2014/main" id="{36294CCF-91E3-C46A-D517-AE3AC3FCC18C}"/>
              </a:ext>
            </a:extLst>
          </p:cNvPr>
          <p:cNvSpPr/>
          <p:nvPr/>
        </p:nvSpPr>
        <p:spPr>
          <a:xfrm rot="1068184">
            <a:off x="10886199" y="191499"/>
            <a:ext cx="1108998" cy="464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Global</a:t>
            </a:r>
          </a:p>
        </p:txBody>
      </p:sp>
      <p:pic>
        <p:nvPicPr>
          <p:cNvPr id="8" name="Grafik 7" descr="Ein Bild, das Text, Screenshot, Schrift, Zahl enthält.&#10;&#10;KI-generierte Inhalte können fehlerhaft sein.">
            <a:extLst>
              <a:ext uri="{FF2B5EF4-FFF2-40B4-BE49-F238E27FC236}">
                <a16:creationId xmlns:a16="http://schemas.microsoft.com/office/drawing/2014/main" id="{491F32A4-064F-C00B-A2FF-640A14B6A47B}"/>
              </a:ext>
            </a:extLst>
          </p:cNvPr>
          <p:cNvPicPr>
            <a:picLocks noChangeAspect="1"/>
          </p:cNvPicPr>
          <p:nvPr/>
        </p:nvPicPr>
        <p:blipFill>
          <a:blip r:embed="rId3"/>
          <a:stretch>
            <a:fillRect/>
          </a:stretch>
        </p:blipFill>
        <p:spPr>
          <a:xfrm>
            <a:off x="1210358" y="1916072"/>
            <a:ext cx="5431604" cy="3748124"/>
          </a:xfrm>
          <a:prstGeom prst="rect">
            <a:avLst/>
          </a:prstGeom>
        </p:spPr>
      </p:pic>
    </p:spTree>
    <p:extLst>
      <p:ext uri="{BB962C8B-B14F-4D97-AF65-F5344CB8AC3E}">
        <p14:creationId xmlns:p14="http://schemas.microsoft.com/office/powerpoint/2010/main" val="863915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1D64472-9720-4FBC-B628-F62EE9D01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7D8CB07-988C-9FBB-E956-E2F3C8CC4CED}"/>
              </a:ext>
            </a:extLst>
          </p:cNvPr>
          <p:cNvSpPr>
            <a:spLocks noGrp="1"/>
          </p:cNvSpPr>
          <p:nvPr>
            <p:ph type="title"/>
          </p:nvPr>
        </p:nvSpPr>
        <p:spPr>
          <a:xfrm>
            <a:off x="6411685" y="634946"/>
            <a:ext cx="5127171" cy="1450757"/>
          </a:xfrm>
        </p:spPr>
        <p:txBody>
          <a:bodyPr>
            <a:normAutofit/>
          </a:bodyPr>
          <a:lstStyle/>
          <a:p>
            <a:r>
              <a:rPr lang="de-DE" dirty="0"/>
              <a:t>SHAP feature </a:t>
            </a:r>
            <a:r>
              <a:rPr lang="de-DE" dirty="0" err="1"/>
              <a:t>importance</a:t>
            </a:r>
            <a:endParaRPr lang="de-DE" dirty="0"/>
          </a:p>
        </p:txBody>
      </p:sp>
      <p:cxnSp>
        <p:nvCxnSpPr>
          <p:cNvPr id="15" name="Straight Connector 14">
            <a:extLst>
              <a:ext uri="{FF2B5EF4-FFF2-40B4-BE49-F238E27FC236}">
                <a16:creationId xmlns:a16="http://schemas.microsoft.com/office/drawing/2014/main" id="{C8274B1F-2E6E-4044-94F7-2AB4E90F65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8DB452FB-94D9-1937-D11F-CB958CC619BD}"/>
              </a:ext>
            </a:extLst>
          </p:cNvPr>
          <p:cNvSpPr>
            <a:spLocks noGrp="1"/>
          </p:cNvSpPr>
          <p:nvPr>
            <p:ph idx="1"/>
          </p:nvPr>
        </p:nvSpPr>
        <p:spPr>
          <a:xfrm>
            <a:off x="6411684" y="2198914"/>
            <a:ext cx="5127172" cy="3670180"/>
          </a:xfrm>
        </p:spPr>
        <p:txBody>
          <a:bodyPr>
            <a:normAutofit/>
          </a:bodyPr>
          <a:lstStyle/>
          <a:p>
            <a:r>
              <a:rPr lang="en-US" b="1" dirty="0"/>
              <a:t>Key insights</a:t>
            </a:r>
            <a:endParaRPr lang="en-US" dirty="0"/>
          </a:p>
          <a:p>
            <a:pPr marL="266700" indent="-266700">
              <a:lnSpc>
                <a:spcPct val="100000"/>
              </a:lnSpc>
              <a:buFont typeface="Arial" panose="020B0604020202020204" pitchFamily="34" charset="0"/>
              <a:buChar char="•"/>
            </a:pPr>
            <a:r>
              <a:rPr lang="en-US" dirty="0"/>
              <a:t>Bars show average impact of each feature on predicted reorder probability</a:t>
            </a:r>
          </a:p>
          <a:p>
            <a:pPr marL="266700" indent="-266700">
              <a:lnSpc>
                <a:spcPct val="100000"/>
              </a:lnSpc>
              <a:buFont typeface="Arial" panose="020B0604020202020204" pitchFamily="34" charset="0"/>
              <a:buChar char="•"/>
            </a:pPr>
            <a:r>
              <a:rPr lang="en-US" dirty="0"/>
              <a:t>Both customer behavior and order characteristics matter</a:t>
            </a:r>
          </a:p>
          <a:p>
            <a:pPr marL="266700" indent="-266700">
              <a:lnSpc>
                <a:spcPct val="100000"/>
              </a:lnSpc>
              <a:buFont typeface="Arial" panose="020B0604020202020204" pitchFamily="34" charset="0"/>
              <a:buChar char="•"/>
            </a:pPr>
            <a:r>
              <a:rPr lang="en-US" dirty="0"/>
              <a:t>No single feature dominates</a:t>
            </a:r>
          </a:p>
        </p:txBody>
      </p:sp>
      <p:sp>
        <p:nvSpPr>
          <p:cNvPr id="17" name="Rectangle 16">
            <a:extLst>
              <a:ext uri="{FF2B5EF4-FFF2-40B4-BE49-F238E27FC236}">
                <a16:creationId xmlns:a16="http://schemas.microsoft.com/office/drawing/2014/main" id="{DF7BD5AB-415F-42D4-8FC0-DCC5D1101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19" name="Rectangle 18">
            <a:extLst>
              <a:ext uri="{FF2B5EF4-FFF2-40B4-BE49-F238E27FC236}">
                <a16:creationId xmlns:a16="http://schemas.microsoft.com/office/drawing/2014/main" id="{2A8EBF22-DAF1-4100-AA4A-A077B68E3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4" name="Datumsplatzhalter 3">
            <a:extLst>
              <a:ext uri="{FF2B5EF4-FFF2-40B4-BE49-F238E27FC236}">
                <a16:creationId xmlns:a16="http://schemas.microsoft.com/office/drawing/2014/main" id="{8078817D-BB57-1337-6CCB-EB208FB221C4}"/>
              </a:ext>
            </a:extLst>
          </p:cNvPr>
          <p:cNvSpPr>
            <a:spLocks noGrp="1"/>
          </p:cNvSpPr>
          <p:nvPr>
            <p:ph type="dt" sz="half" idx="10"/>
          </p:nvPr>
        </p:nvSpPr>
        <p:spPr>
          <a:xfrm>
            <a:off x="1097280" y="6459785"/>
            <a:ext cx="2472271" cy="365125"/>
          </a:xfrm>
        </p:spPr>
        <p:txBody>
          <a:bodyPr>
            <a:normAutofit/>
          </a:bodyPr>
          <a:lstStyle/>
          <a:p>
            <a:pPr>
              <a:spcAft>
                <a:spcPts val="600"/>
              </a:spcAft>
            </a:pPr>
            <a:r>
              <a:rPr lang="en-US"/>
              <a:t>1/29/2026</a:t>
            </a:r>
            <a:endParaRPr lang="de-DE"/>
          </a:p>
        </p:txBody>
      </p:sp>
      <p:sp>
        <p:nvSpPr>
          <p:cNvPr id="5" name="Fußzeilenplatzhalter 4">
            <a:extLst>
              <a:ext uri="{FF2B5EF4-FFF2-40B4-BE49-F238E27FC236}">
                <a16:creationId xmlns:a16="http://schemas.microsoft.com/office/drawing/2014/main" id="{F99D4C5B-584B-7576-ED3B-48D41894102E}"/>
              </a:ext>
            </a:extLst>
          </p:cNvPr>
          <p:cNvSpPr>
            <a:spLocks noGrp="1"/>
          </p:cNvSpPr>
          <p:nvPr>
            <p:ph type="ftr" sz="quarter" idx="11"/>
          </p:nvPr>
        </p:nvSpPr>
        <p:spPr>
          <a:xfrm>
            <a:off x="3686185" y="6459785"/>
            <a:ext cx="4822804" cy="365125"/>
          </a:xfrm>
        </p:spPr>
        <p:txBody>
          <a:bodyPr>
            <a:normAutofit/>
          </a:bodyPr>
          <a:lstStyle/>
          <a:p>
            <a:endParaRPr lang="de-DE"/>
          </a:p>
        </p:txBody>
      </p:sp>
      <p:sp>
        <p:nvSpPr>
          <p:cNvPr id="6" name="Foliennummernplatzhalter 5">
            <a:extLst>
              <a:ext uri="{FF2B5EF4-FFF2-40B4-BE49-F238E27FC236}">
                <a16:creationId xmlns:a16="http://schemas.microsoft.com/office/drawing/2014/main" id="{7DDE05CA-9371-4002-0456-60F7F97AB612}"/>
              </a:ext>
            </a:extLst>
          </p:cNvPr>
          <p:cNvSpPr>
            <a:spLocks noGrp="1"/>
          </p:cNvSpPr>
          <p:nvPr>
            <p:ph type="sldNum" sz="quarter" idx="12"/>
          </p:nvPr>
        </p:nvSpPr>
        <p:spPr>
          <a:xfrm>
            <a:off x="9900458" y="6459785"/>
            <a:ext cx="1312025" cy="365125"/>
          </a:xfrm>
        </p:spPr>
        <p:txBody>
          <a:bodyPr>
            <a:normAutofit/>
          </a:bodyPr>
          <a:lstStyle/>
          <a:p>
            <a:pPr>
              <a:spcAft>
                <a:spcPts val="600"/>
              </a:spcAft>
            </a:pPr>
            <a:fld id="{9832B0F4-0138-426C-A884-6EC3C10E0B5B}" type="slidenum">
              <a:rPr lang="de-DE" smtClean="0"/>
              <a:pPr>
                <a:spcAft>
                  <a:spcPts val="600"/>
                </a:spcAft>
              </a:pPr>
              <a:t>9</a:t>
            </a:fld>
            <a:endParaRPr lang="de-DE"/>
          </a:p>
        </p:txBody>
      </p:sp>
      <p:sp>
        <p:nvSpPr>
          <p:cNvPr id="11" name="Rectangle 1">
            <a:extLst>
              <a:ext uri="{FF2B5EF4-FFF2-40B4-BE49-F238E27FC236}">
                <a16:creationId xmlns:a16="http://schemas.microsoft.com/office/drawing/2014/main" id="{B2280121-ABD8-2CAA-43EC-55C533670A6E}"/>
              </a:ext>
            </a:extLst>
          </p:cNvPr>
          <p:cNvSpPr>
            <a:spLocks noChangeArrowheads="1"/>
          </p:cNvSpPr>
          <p:nvPr/>
        </p:nvSpPr>
        <p:spPr bwMode="auto">
          <a:xfrm>
            <a:off x="3152775" y="2644259"/>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
        <p:nvSpPr>
          <p:cNvPr id="20" name="Rechteck 19">
            <a:extLst>
              <a:ext uri="{FF2B5EF4-FFF2-40B4-BE49-F238E27FC236}">
                <a16:creationId xmlns:a16="http://schemas.microsoft.com/office/drawing/2014/main" id="{573BCD2B-F99D-F4A8-5541-B11F5B64EA71}"/>
              </a:ext>
            </a:extLst>
          </p:cNvPr>
          <p:cNvSpPr/>
          <p:nvPr/>
        </p:nvSpPr>
        <p:spPr>
          <a:xfrm rot="1068184">
            <a:off x="10886199" y="191499"/>
            <a:ext cx="1108998" cy="464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t>Global</a:t>
            </a:r>
          </a:p>
        </p:txBody>
      </p:sp>
      <p:pic>
        <p:nvPicPr>
          <p:cNvPr id="8" name="Grafik 7" descr="Ein Bild, das Text, Screenshot, Schrift, Diagramm enthält.&#10;&#10;KI-generierte Inhalte können fehlerhaft sein.">
            <a:extLst>
              <a:ext uri="{FF2B5EF4-FFF2-40B4-BE49-F238E27FC236}">
                <a16:creationId xmlns:a16="http://schemas.microsoft.com/office/drawing/2014/main" id="{B648F32F-2695-4440-2A24-31A6AA363338}"/>
              </a:ext>
            </a:extLst>
          </p:cNvPr>
          <p:cNvPicPr>
            <a:picLocks noChangeAspect="1"/>
          </p:cNvPicPr>
          <p:nvPr/>
        </p:nvPicPr>
        <p:blipFill>
          <a:blip r:embed="rId3"/>
          <a:stretch>
            <a:fillRect/>
          </a:stretch>
        </p:blipFill>
        <p:spPr>
          <a:xfrm>
            <a:off x="785143" y="286833"/>
            <a:ext cx="4841397" cy="5760650"/>
          </a:xfrm>
          <a:prstGeom prst="rect">
            <a:avLst/>
          </a:prstGeom>
        </p:spPr>
      </p:pic>
    </p:spTree>
    <p:extLst>
      <p:ext uri="{BB962C8B-B14F-4D97-AF65-F5344CB8AC3E}">
        <p14:creationId xmlns:p14="http://schemas.microsoft.com/office/powerpoint/2010/main" val="3889918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2">
            <a:extLst>
              <a:ext uri="{FF2B5EF4-FFF2-40B4-BE49-F238E27FC236}">
                <a16:creationId xmlns:a16="http://schemas.microsoft.com/office/drawing/2014/main" id="{11D64472-9720-4FBC-B628-F62EE9D01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94776EA-6A87-0C2C-12DD-B9C86BB85190}"/>
              </a:ext>
            </a:extLst>
          </p:cNvPr>
          <p:cNvSpPr>
            <a:spLocks noGrp="1"/>
          </p:cNvSpPr>
          <p:nvPr>
            <p:ph type="title"/>
          </p:nvPr>
        </p:nvSpPr>
        <p:spPr>
          <a:xfrm>
            <a:off x="6411685" y="634946"/>
            <a:ext cx="5127171" cy="1450757"/>
          </a:xfrm>
        </p:spPr>
        <p:txBody>
          <a:bodyPr>
            <a:noAutofit/>
          </a:bodyPr>
          <a:lstStyle/>
          <a:p>
            <a:r>
              <a:rPr lang="en-US" sz="4000" dirty="0"/>
              <a:t>Explaining an individual voucher decision</a:t>
            </a:r>
            <a:endParaRPr lang="de-DE" sz="4000" dirty="0"/>
          </a:p>
        </p:txBody>
      </p:sp>
      <p:cxnSp>
        <p:nvCxnSpPr>
          <p:cNvPr id="21" name="Straight Connector 14">
            <a:extLst>
              <a:ext uri="{FF2B5EF4-FFF2-40B4-BE49-F238E27FC236}">
                <a16:creationId xmlns:a16="http://schemas.microsoft.com/office/drawing/2014/main" id="{C8274B1F-2E6E-4044-94F7-2AB4E90F65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2" name="Rectangle 16">
            <a:extLst>
              <a:ext uri="{FF2B5EF4-FFF2-40B4-BE49-F238E27FC236}">
                <a16:creationId xmlns:a16="http://schemas.microsoft.com/office/drawing/2014/main" id="{DF7BD5AB-415F-42D4-8FC0-DCC5D1101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19" name="Rectangle 18">
            <a:extLst>
              <a:ext uri="{FF2B5EF4-FFF2-40B4-BE49-F238E27FC236}">
                <a16:creationId xmlns:a16="http://schemas.microsoft.com/office/drawing/2014/main" id="{2A8EBF22-DAF1-4100-AA4A-A077B68E3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4" name="Datumsplatzhalter 3">
            <a:extLst>
              <a:ext uri="{FF2B5EF4-FFF2-40B4-BE49-F238E27FC236}">
                <a16:creationId xmlns:a16="http://schemas.microsoft.com/office/drawing/2014/main" id="{87B1B4FB-14D2-7F71-B794-33F62542695A}"/>
              </a:ext>
            </a:extLst>
          </p:cNvPr>
          <p:cNvSpPr>
            <a:spLocks noGrp="1"/>
          </p:cNvSpPr>
          <p:nvPr>
            <p:ph type="dt" sz="half" idx="10"/>
          </p:nvPr>
        </p:nvSpPr>
        <p:spPr>
          <a:xfrm>
            <a:off x="1097280" y="6459785"/>
            <a:ext cx="2472271" cy="365125"/>
          </a:xfrm>
        </p:spPr>
        <p:txBody>
          <a:bodyPr>
            <a:normAutofit/>
          </a:bodyPr>
          <a:lstStyle/>
          <a:p>
            <a:pPr>
              <a:spcAft>
                <a:spcPts val="600"/>
              </a:spcAft>
            </a:pPr>
            <a:r>
              <a:rPr lang="en-US"/>
              <a:t>1/29/2026</a:t>
            </a:r>
            <a:endParaRPr lang="de-DE"/>
          </a:p>
        </p:txBody>
      </p:sp>
      <p:sp>
        <p:nvSpPr>
          <p:cNvPr id="5" name="Fußzeilenplatzhalter 4">
            <a:extLst>
              <a:ext uri="{FF2B5EF4-FFF2-40B4-BE49-F238E27FC236}">
                <a16:creationId xmlns:a16="http://schemas.microsoft.com/office/drawing/2014/main" id="{DEC13546-B2A9-5AC2-C4D4-E95197D57D12}"/>
              </a:ext>
            </a:extLst>
          </p:cNvPr>
          <p:cNvSpPr>
            <a:spLocks noGrp="1"/>
          </p:cNvSpPr>
          <p:nvPr>
            <p:ph type="ftr" sz="quarter" idx="11"/>
          </p:nvPr>
        </p:nvSpPr>
        <p:spPr>
          <a:xfrm>
            <a:off x="3686185" y="6459785"/>
            <a:ext cx="4822804" cy="365125"/>
          </a:xfrm>
        </p:spPr>
        <p:txBody>
          <a:bodyPr>
            <a:normAutofit/>
          </a:bodyPr>
          <a:lstStyle/>
          <a:p>
            <a:endParaRPr lang="de-DE"/>
          </a:p>
        </p:txBody>
      </p:sp>
      <p:sp>
        <p:nvSpPr>
          <p:cNvPr id="6" name="Foliennummernplatzhalter 5">
            <a:extLst>
              <a:ext uri="{FF2B5EF4-FFF2-40B4-BE49-F238E27FC236}">
                <a16:creationId xmlns:a16="http://schemas.microsoft.com/office/drawing/2014/main" id="{49FB1E7B-8C55-C76A-4641-769294D6FF95}"/>
              </a:ext>
            </a:extLst>
          </p:cNvPr>
          <p:cNvSpPr>
            <a:spLocks noGrp="1"/>
          </p:cNvSpPr>
          <p:nvPr>
            <p:ph type="sldNum" sz="quarter" idx="12"/>
          </p:nvPr>
        </p:nvSpPr>
        <p:spPr>
          <a:xfrm>
            <a:off x="9900458" y="6459785"/>
            <a:ext cx="1312025" cy="365125"/>
          </a:xfrm>
        </p:spPr>
        <p:txBody>
          <a:bodyPr>
            <a:normAutofit/>
          </a:bodyPr>
          <a:lstStyle/>
          <a:p>
            <a:pPr>
              <a:spcAft>
                <a:spcPts val="600"/>
              </a:spcAft>
            </a:pPr>
            <a:fld id="{9832B0F4-0138-426C-A884-6EC3C10E0B5B}" type="slidenum">
              <a:rPr lang="de-DE" smtClean="0"/>
              <a:pPr>
                <a:spcAft>
                  <a:spcPts val="600"/>
                </a:spcAft>
              </a:pPr>
              <a:t>10</a:t>
            </a:fld>
            <a:endParaRPr lang="de-DE"/>
          </a:p>
        </p:txBody>
      </p:sp>
      <p:sp>
        <p:nvSpPr>
          <p:cNvPr id="9" name="Rechteck 8">
            <a:extLst>
              <a:ext uri="{FF2B5EF4-FFF2-40B4-BE49-F238E27FC236}">
                <a16:creationId xmlns:a16="http://schemas.microsoft.com/office/drawing/2014/main" id="{A0526BCD-FCFF-04D0-DFBD-CFC6A831A66D}"/>
              </a:ext>
            </a:extLst>
          </p:cNvPr>
          <p:cNvSpPr/>
          <p:nvPr/>
        </p:nvSpPr>
        <p:spPr>
          <a:xfrm rot="1068184">
            <a:off x="10886199" y="191499"/>
            <a:ext cx="1108998" cy="464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err="1"/>
              <a:t>Local</a:t>
            </a:r>
            <a:endParaRPr lang="de-DE" sz="1600" dirty="0"/>
          </a:p>
        </p:txBody>
      </p:sp>
      <p:sp>
        <p:nvSpPr>
          <p:cNvPr id="10" name="Inhaltsplatzhalter 2">
            <a:extLst>
              <a:ext uri="{FF2B5EF4-FFF2-40B4-BE49-F238E27FC236}">
                <a16:creationId xmlns:a16="http://schemas.microsoft.com/office/drawing/2014/main" id="{6239B446-BC05-8686-0CFB-F9699C19DD4D}"/>
              </a:ext>
            </a:extLst>
          </p:cNvPr>
          <p:cNvSpPr>
            <a:spLocks noGrp="1"/>
          </p:cNvSpPr>
          <p:nvPr>
            <p:ph idx="1"/>
          </p:nvPr>
        </p:nvSpPr>
        <p:spPr>
          <a:xfrm>
            <a:off x="6411684" y="2198914"/>
            <a:ext cx="5127172" cy="3670180"/>
          </a:xfrm>
        </p:spPr>
        <p:txBody>
          <a:bodyPr>
            <a:normAutofit/>
          </a:bodyPr>
          <a:lstStyle/>
          <a:p>
            <a:r>
              <a:rPr lang="en-US" b="1" dirty="0"/>
              <a:t>Key insights</a:t>
            </a:r>
          </a:p>
          <a:p>
            <a:pPr marL="266700" indent="-266700">
              <a:lnSpc>
                <a:spcPct val="100000"/>
              </a:lnSpc>
              <a:buFont typeface="Arial" panose="020B0604020202020204" pitchFamily="34" charset="0"/>
              <a:buChar char="•"/>
            </a:pPr>
            <a:r>
              <a:rPr lang="en-US" dirty="0"/>
              <a:t>Several features reduce the predicted probability of reordering</a:t>
            </a:r>
          </a:p>
          <a:p>
            <a:pPr marL="266700" indent="-266700">
              <a:lnSpc>
                <a:spcPct val="100000"/>
              </a:lnSpc>
              <a:buFont typeface="Arial" panose="020B0604020202020204" pitchFamily="34" charset="0"/>
              <a:buChar char="•"/>
            </a:pPr>
            <a:r>
              <a:rPr lang="en-US" dirty="0"/>
              <a:t>Weight and w5 contribute positively to the predicted reorder probability</a:t>
            </a:r>
          </a:p>
          <a:p>
            <a:pPr marL="266700" indent="-266700">
              <a:lnSpc>
                <a:spcPct val="100000"/>
              </a:lnSpc>
              <a:buFont typeface="Arial" panose="020B0604020202020204" pitchFamily="34" charset="0"/>
              <a:buChar char="•"/>
            </a:pPr>
            <a:r>
              <a:rPr lang="en-US" dirty="0"/>
              <a:t>The final predicted probability falls below the revenue-optimal threshold</a:t>
            </a:r>
          </a:p>
          <a:p>
            <a:pPr marL="266700" indent="-266700">
              <a:lnSpc>
                <a:spcPct val="100000"/>
              </a:lnSpc>
              <a:buFont typeface="Arial" panose="020B0604020202020204" pitchFamily="34" charset="0"/>
              <a:buChar char="•"/>
            </a:pPr>
            <a:r>
              <a:rPr lang="en-US" dirty="0"/>
              <a:t>A voucher is therefore sent to this customer</a:t>
            </a:r>
          </a:p>
        </p:txBody>
      </p:sp>
      <p:pic>
        <p:nvPicPr>
          <p:cNvPr id="7" name="Grafik 6" descr="Ein Bild, das Text, Screenshot, Diagramm, Zahl enthält.&#10;&#10;KI-generierte Inhalte können fehlerhaft sein.">
            <a:extLst>
              <a:ext uri="{FF2B5EF4-FFF2-40B4-BE49-F238E27FC236}">
                <a16:creationId xmlns:a16="http://schemas.microsoft.com/office/drawing/2014/main" id="{04627466-04F7-EF4D-D884-154CDFBE7EC6}"/>
              </a:ext>
            </a:extLst>
          </p:cNvPr>
          <p:cNvPicPr>
            <a:picLocks noChangeAspect="1"/>
          </p:cNvPicPr>
          <p:nvPr/>
        </p:nvPicPr>
        <p:blipFill>
          <a:blip r:embed="rId3"/>
          <a:stretch>
            <a:fillRect/>
          </a:stretch>
        </p:blipFill>
        <p:spPr>
          <a:xfrm>
            <a:off x="482777" y="412265"/>
            <a:ext cx="5312606" cy="5509786"/>
          </a:xfrm>
          <a:prstGeom prst="rect">
            <a:avLst/>
          </a:prstGeom>
        </p:spPr>
      </p:pic>
    </p:spTree>
    <p:extLst>
      <p:ext uri="{BB962C8B-B14F-4D97-AF65-F5344CB8AC3E}">
        <p14:creationId xmlns:p14="http://schemas.microsoft.com/office/powerpoint/2010/main" val="3273275349"/>
      </p:ext>
    </p:extLst>
  </p:cSld>
  <p:clrMapOvr>
    <a:masterClrMapping/>
  </p:clrMapOvr>
</p:sld>
</file>

<file path=ppt/theme/theme1.xml><?xml version="1.0" encoding="utf-8"?>
<a:theme xmlns:a="http://schemas.openxmlformats.org/drawingml/2006/main" name="Rückblick">
  <a:themeElements>
    <a:clrScheme name="Benutzerdefiniert 5">
      <a:dk1>
        <a:sysClr val="windowText" lastClr="000000"/>
      </a:dk1>
      <a:lt1>
        <a:sysClr val="window" lastClr="FFFFFF"/>
      </a:lt1>
      <a:dk2>
        <a:srgbClr val="000000"/>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ückblick">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ückblick">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1D5AD7C9E59244BB0B643DD6072550B" ma:contentTypeVersion="5" ma:contentTypeDescription="Create a new document." ma:contentTypeScope="" ma:versionID="85e977673284ff4e55c55b8a886dde7c">
  <xsd:schema xmlns:xsd="http://www.w3.org/2001/XMLSchema" xmlns:xs="http://www.w3.org/2001/XMLSchema" xmlns:p="http://schemas.microsoft.com/office/2006/metadata/properties" xmlns:ns3="e9aaf673-df37-46b5-b896-34cdb5cd9cc8" targetNamespace="http://schemas.microsoft.com/office/2006/metadata/properties" ma:root="true" ma:fieldsID="b032c3710d20fbead882330fb24742e3" ns3:_="">
    <xsd:import namespace="e9aaf673-df37-46b5-b896-34cdb5cd9cc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aaf673-df37-46b5-b896-34cdb5cd9c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9aaf673-df37-46b5-b896-34cdb5cd9cc8" xsi:nil="true"/>
  </documentManagement>
</p:properties>
</file>

<file path=customXml/itemProps1.xml><?xml version="1.0" encoding="utf-8"?>
<ds:datastoreItem xmlns:ds="http://schemas.openxmlformats.org/officeDocument/2006/customXml" ds:itemID="{CDDFCAA8-2BF5-41FE-A346-654DBB337DB3}">
  <ds:schemaRefs>
    <ds:schemaRef ds:uri="http://schemas.microsoft.com/sharepoint/v3/contenttype/forms"/>
  </ds:schemaRefs>
</ds:datastoreItem>
</file>

<file path=customXml/itemProps2.xml><?xml version="1.0" encoding="utf-8"?>
<ds:datastoreItem xmlns:ds="http://schemas.openxmlformats.org/officeDocument/2006/customXml" ds:itemID="{A8FD85C9-1019-45ED-82F3-B55D26608B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aaf673-df37-46b5-b896-34cdb5cd9c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3BAD624-CC20-4488-9906-96CA39C66BDC}">
  <ds:schemaRefs>
    <ds:schemaRef ds:uri="http://schemas.microsoft.com/office/infopath/2007/PartnerControls"/>
    <ds:schemaRef ds:uri="http://schemas.openxmlformats.org/package/2006/metadata/core-properties"/>
    <ds:schemaRef ds:uri="http://schemas.microsoft.com/office/2006/metadata/properties"/>
    <ds:schemaRef ds:uri="http://purl.org/dc/dcmitype/"/>
    <ds:schemaRef ds:uri="e9aaf673-df37-46b5-b896-34cdb5cd9cc8"/>
    <ds:schemaRef ds:uri="http://schemas.microsoft.com/office/2006/documentManagement/types"/>
    <ds:schemaRef ds:uri="http://www.w3.org/XML/1998/namespace"/>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1531</Words>
  <Application>Microsoft Office PowerPoint</Application>
  <PresentationFormat>Breitbild</PresentationFormat>
  <Paragraphs>157</Paragraphs>
  <Slides>10</Slides>
  <Notes>9</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10</vt:i4>
      </vt:variant>
    </vt:vector>
  </HeadingPairs>
  <TitlesOfParts>
    <vt:vector size="16" baseType="lpstr">
      <vt:lpstr>Aptos</vt:lpstr>
      <vt:lpstr>Arial</vt:lpstr>
      <vt:lpstr>Calibri</vt:lpstr>
      <vt:lpstr>Calibri Light</vt:lpstr>
      <vt:lpstr>Wingdings</vt:lpstr>
      <vt:lpstr>Rückblick</vt:lpstr>
      <vt:lpstr>Revenue optimization</vt:lpstr>
      <vt:lpstr>First, we need to understand our customers</vt:lpstr>
      <vt:lpstr>PowerPoint-Präsentation</vt:lpstr>
      <vt:lpstr>How do we decide who gets a voucher?</vt:lpstr>
      <vt:lpstr>Naive voucher strategies destroy value</vt:lpstr>
      <vt:lpstr>Gradient Boosting is the best-performing model</vt:lpstr>
      <vt:lpstr>A revenue-optimal threshold determines who receives a voucher</vt:lpstr>
      <vt:lpstr>Customer behavior and returns drive reorder predictions</vt:lpstr>
      <vt:lpstr>SHAP feature importance</vt:lpstr>
      <vt:lpstr>Explaining an individual voucher decision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Franziska Nagel</dc:creator>
  <cp:lastModifiedBy>Franziska Nagel</cp:lastModifiedBy>
  <cp:revision>6</cp:revision>
  <dcterms:created xsi:type="dcterms:W3CDTF">2025-12-26T10:50:44Z</dcterms:created>
  <dcterms:modified xsi:type="dcterms:W3CDTF">2026-01-25T23:28:11Z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0x010100F1D5AD7C9E59244BB0B643DD6072550B</vt:lpwstr>
  </property>
</Properties>
</file>